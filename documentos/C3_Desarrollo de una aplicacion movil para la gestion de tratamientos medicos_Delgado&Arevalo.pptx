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A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3685E-1FEE-3EE8-67E9-01767340E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A62959-B31D-DD67-B9F9-26F21BB24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7C3C2-9D2B-4805-F642-25A034E4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A4B7C-433F-4B8E-7828-88963600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EC88A8-E7EF-FFFE-A53C-076E5D2F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222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536FF-47DD-E54C-7E5F-336A7AD50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7B769-7D1A-CEC5-6EEE-8290174CA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77872C-3CFD-F070-A423-F895F57C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1DFB0A-84F1-E721-670C-AEACC3AA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1C8BFF-2B51-3AC6-21F5-E9251E28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496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8EB2C-1CA7-955F-79DA-9B9DD8D3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962063-76C8-8277-2747-B69252916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AC47ED-B113-FE26-3CF2-B32172917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D92CE3-E2CD-5E0C-08A3-165EF37E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8C122-A4F6-6407-511A-0795105A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43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DA999-EFC4-4D98-54F1-8E322E27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D56CB3-4ABE-484B-FD5D-DDEE41C3B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B1578E-062E-B0EA-FD77-F8CB23A4A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388106-606C-AE7F-BCF9-BB2FB03A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F3D273-4FCA-C1D5-1201-3D090433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286636-F1DD-6F24-DBA9-71CE43F1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988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E7B5A-64CD-9519-8123-2615511E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92A2FD-A13D-AA15-1FEF-D94B67AB6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58BDE-20A1-A23E-73C6-6FCF2FAB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C29396-DF72-CFCE-5D17-12677F1D1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07964C-5155-A949-E7C7-17274FD00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72807FF-2A06-3BA6-5FF1-0D01C422B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14E79C-4FEB-B50D-CC5B-471FF9F2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FE3E4B-60EC-913A-F185-46772509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021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2B0DC-0485-8EED-C88C-3B568B32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7541EC-5054-0B73-CE3A-6B3DB636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161D87-D4E7-BA0C-94EF-77F96B10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BFB7F4-88C8-BB79-873F-A148A2A8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946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FF2D46-4BEE-6C30-0515-1932A53F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E91A81-F8AA-2D18-FBFF-63BB5EEB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598243-EDCB-0C56-6296-F9086865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230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43D0A-861C-B5BF-3E47-2F1E729A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40491E-5D6E-7F4A-CE9B-88B7EBCC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1009C1-EE82-676D-2776-05293F940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A313E5-5CD1-2AB9-6C87-D552C012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CC4E58-4293-61CD-DC31-53B80ADD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5C9B51-5096-422C-20C5-828FF3A5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394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C8495-68BA-7E3D-E2BA-1BAD951C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4A8DEE-8F4C-BB83-D60C-E8D9E0691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C089E4-07E2-71B6-3953-0441FF726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17DB69-6EB4-66E3-CC59-CBD893AD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FB83DD-96CF-3DEA-B51E-DBD24A81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01A451-1643-525C-187D-9A482CEC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772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43898-1097-B014-11C7-252F2A39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4016AA-E088-17AA-8A5B-D972F4C55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3ED8F5-0389-E384-EF31-56ADFCA8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94402B-B139-0DD6-5C98-BEAD9DFB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9EFBD7-542C-5123-B3DA-EF3EE297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71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9DB670-22F9-33A9-42C7-7B058275D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FB8CB1-5514-258D-9FFC-09C76DAD6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698BBD-3497-FEE1-BA4A-0E3513D8B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C12224-85D6-1A3F-33C6-9F61792D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854DA-DBE8-14DB-A064-08738BF2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7621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53DB0C-3134-3666-D7F9-CF1E0549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FE7AD2-A436-0674-41C9-89B5CE629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CBA2A1-0742-4BBF-5881-3E3B419CA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1B07B-9697-5746-AF2E-EE845943698D}" type="datetimeFigureOut">
              <a:rPr lang="es-CO" smtClean="0"/>
              <a:t>25/10/2026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4B7A06-1043-31D3-ABDE-5BBDE7249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80DB02-7A7B-5C2C-E42A-E6A83A29F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6089B-878E-FF49-8E58-614E4B491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43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BB29402-F916-6685-0CF0-5ABCB9697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103" y="0"/>
            <a:ext cx="10287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7AC744-9079-D317-2BB1-A532E30015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150876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07236"/>
                </a:solidFill>
              </a:defRPr>
            </a:pPr>
            <a:r>
              <a:t>PROYECTO DE GESTIÓN DEL CONOCIMIENTO (PGC) • CICLO III</a:t>
            </a:r>
          </a:p>
          <a:p>
            <a:pPr>
              <a:spcAft>
                <a:spcPts val="600"/>
              </a:spcAft>
              <a:defRPr sz="1700" b="1">
                <a:solidFill>
                  <a:srgbClr val="005528"/>
                </a:solidFill>
              </a:defRPr>
            </a:pPr>
            <a:r>
              <a:t>MEDITIME: GESTIÓN INTEGRAL DE RECETAS MÉDICAS Y CONTROL DE PRESCRIPCIONES</a:t>
            </a:r>
          </a:p>
          <a:p>
            <a:pPr>
              <a:spcAft>
                <a:spcPts val="400"/>
              </a:spcAft>
              <a:defRPr sz="1300" b="1">
                <a:solidFill>
                  <a:srgbClr val="64748B"/>
                </a:solidFill>
              </a:defRPr>
            </a:pPr>
            <a:r>
              <a:t>Aplicación Móvil Asistida por IA (v2.32.0) y Plataforma Web Oficial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Sustentación de Segunda Entrega • Noveno Semestre (2026-2)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5528"/>
                </a:solidFill>
              </a:defRPr>
            </a:pPr>
            <a:r>
              <a:t>Creadores de Oportunidades (Autores):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Johan Alexander Arévalo Contreras</a:t>
            </a:r>
            <a:br/>
            <a:r>
              <a:t>• Jorge Eliecer Delgado Cortés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Programa de Ingeniería de Sistemas • Seccional Ubaté</a:t>
            </a:r>
            <a:br/>
            <a:r>
              <a:t>Universidad de Cundinamarca (Septiembre - Octubre 2026)</a:t>
            </a:r>
          </a:p>
        </p:txBody>
      </p:sp>
    </p:spTree>
    <p:extLst>
      <p:ext uri="{BB962C8B-B14F-4D97-AF65-F5344CB8AC3E}">
        <p14:creationId xmlns:p14="http://schemas.microsoft.com/office/powerpoint/2010/main" val="2460359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1. DEFINICIÓN DEL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Incumplimiento en Prescripciones y Brecha en Salud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4754880" cy="4343400"/>
          </a:xfrm>
          <a:prstGeom prst="roundRect">
            <a:avLst/>
          </a:prstGeom>
          <a:solidFill>
            <a:srgbClr val="FEF2F2"/>
          </a:solidFill>
          <a:ln w="1651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B91C1C"/>
                </a:solidFill>
              </a:defRPr>
            </a:pPr>
            <a:r>
              <a:t>~50%</a:t>
            </a:r>
          </a:p>
          <a:p>
            <a:pPr algn="ctr">
              <a:spcAft>
                <a:spcPts val="1200"/>
              </a:spcAft>
              <a:defRPr sz="1500" b="1">
                <a:solidFill>
                  <a:srgbClr val="1E293B"/>
                </a:solidFill>
              </a:defRPr>
            </a:pPr>
            <a:r>
              <a:t>de pacientes con medicación a largo plazo no toman sus fármacos según lo prescrito.</a:t>
            </a:r>
          </a:p>
          <a:p>
            <a:pPr>
              <a:defRPr sz="1300" b="1">
                <a:solidFill>
                  <a:srgbClr val="B91C1C"/>
                </a:solidFill>
              </a:defRPr>
            </a:pPr>
            <a:r>
              <a:t>Causas críticas identificadas: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Olvido recurrente en horarios de tomas.</a:t>
            </a:r>
            <a:br/>
            <a:r>
              <a:t>• Pérdida o deterioro de fórmulas físicas en papel.</a:t>
            </a:r>
            <a:br/>
            <a:r>
              <a:t>• Complejidad por polifarmacia en el mismo hogar.</a:t>
            </a:r>
            <a:br/>
            <a:r>
              <a:t>• Dificultad para validar vigencia y dosis en zonas de Cundinamarca.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737360"/>
            <a:ext cx="566928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9202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⚠️ Consecuencias Clínicas Directas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• Empeoramiento progresivo de patologías base.</a:t>
            </a:r>
            <a:br/>
            <a:r>
              <a:t>• Aparición de resistencia farmacológica.</a:t>
            </a:r>
            <a:br/>
            <a:r>
              <a:t>• Riesgo severo de interacciones medicamentosas adversas.</a:t>
            </a:r>
            <a:br/>
            <a:r>
              <a:t>• Reingresos hospitalarios no planificados a urgencias.</a:t>
            </a:r>
          </a:p>
          <a:p>
            <a:pPr>
              <a:spcAft>
                <a:spcPts val="600"/>
              </a:spcAft>
              <a:defRPr sz="1500" b="1">
                <a:solidFill>
                  <a:srgbClr val="005528"/>
                </a:solidFill>
              </a:defRPr>
            </a:pPr>
            <a:r>
              <a:t>❓ Formulación de la Pregunta Problema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"¿Cómo puede una aplicación móvil multiplataforma dotada de visión artificial, asistente de voz e inteligencia en la nube optimizar la gestión de recetas médicas y prevenir errores en Cundinamarca?"</a:t>
            </a:r>
          </a:p>
        </p:txBody>
      </p:sp>
    </p:spTree>
    <p:extLst>
      <p:ext uri="{BB962C8B-B14F-4D97-AF65-F5344CB8AC3E}">
        <p14:creationId xmlns:p14="http://schemas.microsoft.com/office/powerpoint/2010/main" val="82635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2. JUSTIFICACIÓN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Evolución Digital, Inclusión y Seguridad Farmacológica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💡 Valor Técnico Sustancial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Transición Analógica a Digital: </a:t>
            </a:r>
            <a:r>
              <a:rPr b="0">
                <a:solidFill>
                  <a:srgbClr val="1E293B"/>
                </a:solidFill>
              </a:rPr>
              <a:t>Elimina la manipulación de fórmulas físicas de papel susceptibles a pérdidas.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Visión Artificial Multimodal: </a:t>
            </a:r>
            <a:r>
              <a:rPr b="0">
                <a:solidFill>
                  <a:srgbClr val="1E293B"/>
                </a:solidFill>
              </a:rPr>
              <a:t>Interpretación y extracción semántica automática de recetas impresas y manuscritas.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Eliminación de Errores: </a:t>
            </a:r>
            <a:r>
              <a:rPr b="0">
                <a:solidFill>
                  <a:srgbClr val="1E293B"/>
                </a:solidFill>
              </a:rPr>
              <a:t>Minimiza la fricción y el error humano asociado al digitado manual de posologías complejas.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Alarmas Nativa de Pantalla Completa: </a:t>
            </a:r>
            <a:r>
              <a:rPr b="0">
                <a:solidFill>
                  <a:srgbClr val="1E293B"/>
                </a:solidFill>
              </a:rPr>
              <a:t>Disparo puntual sin importar el ahorro de energía (Doze Mode).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303520" cy="434340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🌱 Valor Social e Inclusivo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Asistente por Voz Midi AI: </a:t>
            </a:r>
            <a:r>
              <a:rPr b="0">
                <a:solidFill>
                  <a:srgbClr val="1E293B"/>
                </a:solidFill>
              </a:rPr>
              <a:t>Procesamiento de lenguaje natural y síntesis de voz para personas con dificultades de lectura.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Accesibilidad Visual WCAG: </a:t>
            </a:r>
            <a:r>
              <a:rPr b="0">
                <a:solidFill>
                  <a:srgbClr val="1E293B"/>
                </a:solidFill>
              </a:rPr>
              <a:t>Alto contraste, escala tipográfica adaptable y diseño intuitivo.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Modo Cuidador: </a:t>
            </a:r>
            <a:r>
              <a:rPr b="0">
                <a:solidFill>
                  <a:srgbClr val="1E293B"/>
                </a:solidFill>
              </a:rPr>
              <a:t>Supervisión unificada de tratamientos para familiares mayores o dependientes.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Modo Animales: </a:t>
            </a:r>
            <a:r>
              <a:rPr b="0">
                <a:solidFill>
                  <a:srgbClr val="1E293B"/>
                </a:solidFill>
              </a:rPr>
              <a:t>Módulo veterinario especializado para dosificación y cuidado de mascotas.</a:t>
            </a:r>
          </a:p>
        </p:txBody>
      </p:sp>
    </p:spTree>
    <p:extLst>
      <p:ext uri="{BB962C8B-B14F-4D97-AF65-F5344CB8AC3E}">
        <p14:creationId xmlns:p14="http://schemas.microsoft.com/office/powerpoint/2010/main" val="371223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3. OBJETIVOS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Objetivo General y Objetivos Específicos Formales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737360"/>
            <a:ext cx="1033272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97840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5528"/>
                </a:solidFill>
              </a:defRPr>
            </a:pPr>
            <a:r>
              <a:t>🎯 Objetivo General</a:t>
            </a:r>
          </a:p>
          <a:p>
            <a:pPr>
              <a:spcAft>
                <a:spcPts val="1600"/>
              </a:spcAft>
              <a:defRPr sz="1400">
                <a:solidFill>
                  <a:srgbClr val="1E293B"/>
                </a:solidFill>
              </a:defRPr>
            </a:pPr>
            <a:r>
              <a:t>Desarrollar una aplicación móvil que facilite la gestión integral de tratamientos médicos, permitiendo a los pacientes acceder a sus prescripciones digitalmente, monitorear su dosificación diaria, recibir recordatorios automáticos y mantener un historial clínico actualizado.</a:t>
            </a:r>
          </a:p>
          <a:p>
            <a:pPr>
              <a:spcAft>
                <a:spcPts val="800"/>
              </a:spcAft>
              <a:defRPr sz="1700" b="1">
                <a:solidFill>
                  <a:srgbClr val="005528"/>
                </a:solidFill>
              </a:defRPr>
            </a:pPr>
            <a:r>
              <a:t>📋 Objetivos Específicos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Conceptualizar la aplicación identificando necesidades y requisitos de pacientes.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Investigar sobre aplicaciones de gestión de tratamientos médicos y sus limitaciones actuales.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Diseñar prototipos de interfaz y experiencia intuitivos (dosificación, alertas, historial).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Realizar pruebas de funcionalidad con pacientes reales para evaluar eficacia y usabilidad.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• Desarrollar el sistema con autenticación, recordatorios, persistencia e historial detallado.</a:t>
            </a:r>
          </a:p>
        </p:txBody>
      </p:sp>
    </p:spTree>
    <p:extLst>
      <p:ext uri="{BB962C8B-B14F-4D97-AF65-F5344CB8AC3E}">
        <p14:creationId xmlns:p14="http://schemas.microsoft.com/office/powerpoint/2010/main" val="160447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4. MARCO DE REFERENCIA Y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Evidencia Científica (mHealth) y Normatividad Colombiana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5528"/>
                </a:solidFill>
              </a:defRPr>
            </a:pPr>
            <a:r>
              <a:t>📚 Evidencia en Salud Digital (mHealth)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Eficacia Demostrada (Domenech, 2021): </a:t>
            </a:r>
            <a:r>
              <a:rPr b="0">
                <a:solidFill>
                  <a:srgbClr val="1E293B"/>
                </a:solidFill>
              </a:rPr>
              <a:t>Revisiones sistemáticas confirman que el 70% de intervenciones mHealth mejoran significativamente la adherencia y calidad de vida.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Sistemas Clínicos Expertos: </a:t>
            </a:r>
            <a:r>
              <a:rPr b="0">
                <a:solidFill>
                  <a:srgbClr val="1E293B"/>
                </a:solidFill>
              </a:rPr>
              <a:t>Antecedentes de IA médica como INFOTOXI y GERISOFT fundamentan la asistencia automatizada.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Adherencia en Adultos Mayores: </a:t>
            </a:r>
            <a:r>
              <a:rPr b="0">
                <a:solidFill>
                  <a:srgbClr val="1E293B"/>
                </a:solidFill>
              </a:rPr>
              <a:t>Estudios en Perú y Colombia (Pérez Guevara, 2019; Cardona Mecia, 2023) ratifican que recordatorios móviles reducen olvidos.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30352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5528"/>
                </a:solidFill>
              </a:defRPr>
            </a:pPr>
            <a:r>
              <a:t>⚖️ Marco Legal Vigente en Colombia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Ley 1581 de 2012 / Dec. 1377: </a:t>
            </a:r>
            <a:r>
              <a:rPr b="0">
                <a:solidFill>
                  <a:srgbClr val="1E293B"/>
                </a:solidFill>
              </a:rPr>
              <a:t>Protección estricta de datos personales y sensibilidad de historiales médicos.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Ley 23 de 1981 (Ética Médica): </a:t>
            </a:r>
            <a:r>
              <a:rPr b="0">
                <a:solidFill>
                  <a:srgbClr val="1E293B"/>
                </a:solidFill>
              </a:rPr>
              <a:t>La app es herramienta de apoyo informativo; no prescribe de forma autónoma.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Ley 527 de 1999: </a:t>
            </a:r>
            <a:r>
              <a:rPr b="0">
                <a:solidFill>
                  <a:srgbClr val="1E293B"/>
                </a:solidFill>
              </a:rPr>
              <a:t>Validez jurídica a mensajes de datos y soporte para recetas electrónicas.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Ley 1438 de 2011: </a:t>
            </a:r>
            <a:r>
              <a:rPr b="0">
                <a:solidFill>
                  <a:srgbClr val="1E293B"/>
                </a:solidFill>
              </a:rPr>
              <a:t>Modernización e innovación tecnológica orientada a la atención primaria en salud.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Art. 49 Constitución Política: </a:t>
            </a:r>
            <a:r>
              <a:rPr b="0">
                <a:solidFill>
                  <a:srgbClr val="1E293B"/>
                </a:solidFill>
              </a:rPr>
              <a:t>Garantía del derecho fundamental a la salud y acceso a tratamientos.</a:t>
            </a:r>
          </a:p>
        </p:txBody>
      </p:sp>
    </p:spTree>
    <p:extLst>
      <p:ext uri="{BB962C8B-B14F-4D97-AF65-F5344CB8AC3E}">
        <p14:creationId xmlns:p14="http://schemas.microsoft.com/office/powerpoint/2010/main" val="2912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5. METODOLOGÍA ÁGIL Y CRONOGRAMA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Kanban como Eje Metodológico y Control de Actividades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ev_pptx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475488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46177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5528"/>
                </a:solidFill>
              </a:defRPr>
            </a:pPr>
            <a:r>
              <a:t>📋 Principios Kanban Aplicados (Doc Pág. 16)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Visualización en 4 estados: Backlog, En Progreso, En Revisión / Pruebas y Finalizado.</a:t>
            </a:r>
            <a:br/>
            <a:r>
              <a:t>• Límite de Trabajo en Progreso (WIP) y ciclos de mejora constante.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5303520" cy="4343400"/>
          </a:xfrm>
          <a:prstGeom prst="roundRect">
            <a:avLst/>
          </a:prstGeom>
          <a:solidFill>
            <a:srgbClr val="EBF6EE"/>
          </a:solidFill>
          <a:ln w="16510">
            <a:solidFill>
              <a:srgbClr val="007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5528"/>
                </a:solidFill>
              </a:defRPr>
            </a:pPr>
            <a:r>
              <a:t>📊 Estado del Cronograma 2026-2 (Pág. 19)</a:t>
            </a:r>
          </a:p>
          <a:p>
            <a:pPr>
              <a:spcAft>
                <a:spcPts val="600"/>
              </a:spcAft>
              <a:defRPr b="1" sz="1250">
                <a:solidFill>
                  <a:srgbClr val="005528"/>
                </a:solidFill>
              </a:defRPr>
            </a:pPr>
            <a:r>
              <a:t>✔ Finalizado (Implementado y verificado): </a:t>
            </a:r>
            <a:r>
              <a:rPr b="0">
                <a:solidFill>
                  <a:srgbClr val="1E293B"/>
                </a:solidFill>
              </a:rPr>
              <a:t>9 actividades (64.3%)</a:t>
            </a:r>
          </a:p>
          <a:p>
            <a:pPr>
              <a:spcAft>
                <a:spcPts val="600"/>
              </a:spcAft>
              <a:defRPr b="1" sz="1250">
                <a:solidFill>
                  <a:srgbClr val="005528"/>
                </a:solidFill>
              </a:defRPr>
            </a:pPr>
            <a:r>
              <a:t>✔ En Curso (En ejecución activa): </a:t>
            </a:r>
            <a:r>
              <a:rPr b="0">
                <a:solidFill>
                  <a:srgbClr val="1E293B"/>
                </a:solidFill>
              </a:rPr>
              <a:t>2 actividades (14.3%)</a:t>
            </a:r>
          </a:p>
          <a:p>
            <a:pPr>
              <a:spcAft>
                <a:spcPts val="600"/>
              </a:spcAft>
              <a:defRPr b="1" sz="1250">
                <a:solidFill>
                  <a:srgbClr val="005528"/>
                </a:solidFill>
              </a:defRPr>
            </a:pPr>
            <a:r>
              <a:t>✔ Pendiente (Programado en cronograma): </a:t>
            </a:r>
            <a:r>
              <a:rPr b="0">
                <a:solidFill>
                  <a:srgbClr val="1E293B"/>
                </a:solidFill>
              </a:rPr>
              <a:t>3 actividades (21.4%)</a:t>
            </a:r>
          </a:p>
          <a:p>
            <a:pPr>
              <a:spcAft>
                <a:spcPts val="600"/>
              </a:spcAft>
              <a:defRPr b="1" sz="1250">
                <a:solidFill>
                  <a:srgbClr val="005528"/>
                </a:solidFill>
              </a:defRPr>
            </a:pPr>
            <a:r>
              <a:t>✔ Total de Actividades de Ingeniería: </a:t>
            </a:r>
            <a:r>
              <a:rPr b="0">
                <a:solidFill>
                  <a:srgbClr val="1E293B"/>
                </a:solidFill>
              </a:rPr>
              <a:t>14 actividades estructuradas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Avance Técnico Clave: Alarmas nativas, OCR de recetas, tema oscuro, modo cuidador y animales, y widgets ya cerrados y probados.</a:t>
            </a:r>
          </a:p>
        </p:txBody>
      </p:sp>
    </p:spTree>
    <p:extLst>
      <p:ext uri="{BB962C8B-B14F-4D97-AF65-F5344CB8AC3E}">
        <p14:creationId xmlns:p14="http://schemas.microsoft.com/office/powerpoint/2010/main" val="221537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6. ARQUITECTURA Y STACK TECNOLÓGICO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Clean Architecture Desacoplada y Servicios de Borde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🏛️ Patrón Clean Architecture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Separación Estricta de Capas: </a:t>
            </a:r>
            <a:r>
              <a:rPr b="0">
                <a:solidFill>
                  <a:srgbClr val="1E293B"/>
                </a:solidFill>
              </a:rPr>
              <a:t>Core, Models, Repositories, Use Cases, Services, Notifiers y Screens.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Manejo de Errores con Result: </a:t>
            </a:r>
            <a:r>
              <a:rPr b="0">
                <a:solidFill>
                  <a:srgbClr val="1E293B"/>
                </a:solidFill>
              </a:rPr>
              <a:t>Patrón Result para captura robusta de excepciones sin caídas en la UI.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Gestión de Estado Reactiva: </a:t>
            </a:r>
            <a:r>
              <a:rPr b="0">
                <a:solidFill>
                  <a:srgbClr val="1E293B"/>
                </a:solidFill>
              </a:rPr>
              <a:t>Implementado con Provider para desacoplar vistas y controladores.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Offline-First Caché: </a:t>
            </a:r>
            <a:r>
              <a:rPr b="0">
                <a:solidFill>
                  <a:srgbClr val="1E293B"/>
                </a:solidFill>
              </a:rPr>
              <a:t>Persistencia local que garantiza consultar tratamientos y registrar dosis sin internet.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30352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🛠️ Stack Tecnológico Oficial (v2.32.0)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Framework y Lenguaje: </a:t>
            </a:r>
            <a:r>
              <a:rPr b="0">
                <a:solidFill>
                  <a:srgbClr val="1E293B"/>
                </a:solidFill>
              </a:rPr>
              <a:t>Flutter 3.x y Dart 3.7 compilados de forma nativa.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Backend &amp; Cloud: </a:t>
            </a:r>
            <a:r>
              <a:rPr b="0">
                <a:solidFill>
                  <a:srgbClr val="1E293B"/>
                </a:solidFill>
              </a:rPr>
              <a:t>Firebase Auth (OAuth Google/Correo) + Cloud Firestore NoSQL.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Inteligencia Artificial: </a:t>
            </a:r>
            <a:r>
              <a:rPr b="0">
                <a:solidFill>
                  <a:srgbClr val="1E293B"/>
                </a:solidFill>
              </a:rPr>
              <a:t>Groq LPU (Qwen 2.5-VL / Qwen 3.8-27b, LLaMA) + OpenAI Whisper.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Servicios Nativos Android: </a:t>
            </a:r>
            <a:r>
              <a:rPr b="0">
                <a:solidFill>
                  <a:srgbClr val="1E293B"/>
                </a:solidFill>
              </a:rPr>
              <a:t>android_alarm_manager_plus (AlarmRingingPage) y home_widget.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• Georreferenciación &amp; PDF: </a:t>
            </a:r>
            <a:r>
              <a:rPr b="0">
                <a:solidFill>
                  <a:srgbClr val="1E293B"/>
                </a:solidFill>
              </a:rPr>
              <a:t>MapLibre GL, Geolocator y motor de reportes con fl_chart.</a:t>
            </a:r>
          </a:p>
        </p:txBody>
      </p:sp>
    </p:spTree>
    <p:extLst>
      <p:ext uri="{BB962C8B-B14F-4D97-AF65-F5344CB8AC3E}">
        <p14:creationId xmlns:p14="http://schemas.microsoft.com/office/powerpoint/2010/main" val="209404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7. ECOSISTEMA MEDITIME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Aplicación Móvil Integral y Plataforma Web Oficial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📱 Aplicación Móvil (v2.32.0)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Visión Artificial (OCR): </a:t>
            </a:r>
            <a:r>
              <a:rPr b="0">
                <a:solidFill>
                  <a:srgbClr val="1E293B"/>
                </a:solidFill>
              </a:rPr>
              <a:t>Escaneo y extracción automática de recetas impresas o manuscritas.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Alarmas Nativas Críticas: </a:t>
            </a:r>
            <a:r>
              <a:rPr b="0">
                <a:solidFill>
                  <a:srgbClr val="1E293B"/>
                </a:solidFill>
              </a:rPr>
              <a:t>Pantalla completa (AlarmRingingPage) que enciende el móvil en Doze Mode.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Asistente Virtual Midi AI: </a:t>
            </a:r>
            <a:r>
              <a:rPr b="0">
                <a:solidFill>
                  <a:srgbClr val="1E293B"/>
                </a:solidFill>
              </a:rPr>
              <a:t>Chatbot con reconocimiento de voz (Whisper) y síntesis de habla.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Multiperfil Inclusivo: </a:t>
            </a:r>
            <a:r>
              <a:rPr b="0">
                <a:solidFill>
                  <a:srgbClr val="1E293B"/>
                </a:solidFill>
              </a:rPr>
              <a:t>Modo Cuidador para pacientes dependientes y Modo Animales (veterinaria).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Informes Clínicos en PDF: </a:t>
            </a:r>
            <a:r>
              <a:rPr b="0">
                <a:solidFill>
                  <a:srgbClr val="1E293B"/>
                </a:solidFill>
              </a:rPr>
              <a:t>Exportación de métricas de adherencia y gráficas para el médico tratante.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303520" cy="434340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5528"/>
                </a:solidFill>
              </a:defRPr>
            </a:pPr>
            <a:r>
              <a:t>🌐 Plataforma Web Oficial (Anexos Pág. 22)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Portal de Difusión Abierto: </a:t>
            </a:r>
            <a:r>
              <a:rPr b="0">
                <a:solidFill>
                  <a:srgbClr val="1E293B"/>
                </a:solidFill>
              </a:rPr>
              <a:t>Sitio web para presentar el proyecto, características y arquitectura a la comunidad.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Descarga Directa de APK: </a:t>
            </a:r>
            <a:r>
              <a:rPr b="0">
                <a:solidFill>
                  <a:srgbClr val="1E293B"/>
                </a:solidFill>
              </a:rPr>
              <a:t>Conectado a GitHub Releases (releases/latest) para instalación inmediata sin intermediarios.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Transparencia y Open Source: </a:t>
            </a:r>
            <a:r>
              <a:rPr b="0">
                <a:solidFill>
                  <a:srgbClr val="1E293B"/>
                </a:solidFill>
              </a:rPr>
              <a:t>Repositorio público con control de versiones y trazabilidad de código.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✔ Visor de Documentación: </a:t>
            </a:r>
            <a:r>
              <a:rPr b="0">
                <a:solidFill>
                  <a:srgbClr val="1E293B"/>
                </a:solidFill>
              </a:rPr>
              <a:t>Acceso público al manual de usuario, manual técnico y plan de sostenibilidad.</a:t>
            </a:r>
          </a:p>
        </p:txBody>
      </p:sp>
    </p:spTree>
    <p:extLst>
      <p:ext uri="{BB962C8B-B14F-4D97-AF65-F5344CB8AC3E}">
        <p14:creationId xmlns:p14="http://schemas.microsoft.com/office/powerpoint/2010/main" val="320628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8. DEMOSTRACIÓN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Recorrido Funcional en Tiempo Real de la Plataforma Web y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737360"/>
            <a:ext cx="1033272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011680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05528"/>
                </a:solidFill>
              </a:defRPr>
            </a:pPr>
            <a:r>
              <a:t>🚀 Recorrido Demostrativo del Ecosistema MediTime:</a:t>
            </a:r>
          </a:p>
          <a:p>
            <a:pPr>
              <a:spcAft>
                <a:spcPts val="800"/>
              </a:spcAft>
              <a:defRPr b="1" sz="1350">
                <a:solidFill>
                  <a:srgbClr val="007236"/>
                </a:solidFill>
              </a:defRPr>
            </a:pPr>
            <a:r>
              <a:t>• 1. Portal Web y Descarga Directa: </a:t>
            </a:r>
            <a:r>
              <a:rPr b="0">
                <a:solidFill>
                  <a:srgbClr val="1E293B"/>
                </a:solidFill>
              </a:rPr>
              <a:t>Visualización del sitio web oficial y enlace de descarga del APK Release en GitHub Releases.</a:t>
            </a:r>
          </a:p>
          <a:p>
            <a:pPr>
              <a:spcAft>
                <a:spcPts val="800"/>
              </a:spcAft>
              <a:defRPr b="1" sz="1350">
                <a:solidFill>
                  <a:srgbClr val="007236"/>
                </a:solidFill>
              </a:defRPr>
            </a:pPr>
            <a:r>
              <a:t>• 2. Digitalización de Receta y Creación: </a:t>
            </a:r>
            <a:r>
              <a:rPr b="0">
                <a:solidFill>
                  <a:srgbClr val="1E293B"/>
                </a:solidFill>
              </a:rPr>
              <a:t>Escaneo asistido por IA o registro de tratamiento con cálculo automático de horarios.</a:t>
            </a:r>
          </a:p>
          <a:p>
            <a:pPr>
              <a:spcAft>
                <a:spcPts val="800"/>
              </a:spcAft>
              <a:defRPr b="1" sz="1350">
                <a:solidFill>
                  <a:srgbClr val="007236"/>
                </a:solidFill>
              </a:defRPr>
            </a:pPr>
            <a:r>
              <a:t>• 3. Ejecución de Alarma Nativa: </a:t>
            </a:r>
            <a:r>
              <a:rPr b="0">
                <a:solidFill>
                  <a:srgbClr val="1E293B"/>
                </a:solidFill>
              </a:rPr>
              <a:t>Disparo interactivo a pantalla completa (AlarmRingingPage) con confirmación de dosis tomada.</a:t>
            </a:r>
          </a:p>
          <a:p>
            <a:pPr>
              <a:spcAft>
                <a:spcPts val="800"/>
              </a:spcAft>
              <a:defRPr b="1" sz="1350">
                <a:solidFill>
                  <a:srgbClr val="007236"/>
                </a:solidFill>
              </a:defRPr>
            </a:pPr>
            <a:r>
              <a:t>• 4. Interacción con Asistente Midi AI: </a:t>
            </a:r>
            <a:r>
              <a:rPr b="0">
                <a:solidFill>
                  <a:srgbClr val="1E293B"/>
                </a:solidFill>
              </a:rPr>
              <a:t>Pregunta médica por voz o chat procesada en tiempo real mediante Groq LPU.</a:t>
            </a:r>
          </a:p>
          <a:p>
            <a:pPr>
              <a:spcAft>
                <a:spcPts val="800"/>
              </a:spcAft>
              <a:defRPr b="1" sz="1350">
                <a:solidFill>
                  <a:srgbClr val="007236"/>
                </a:solidFill>
              </a:defRPr>
            </a:pPr>
            <a:r>
              <a:t>• 5. Supervisión y Reporte Clínico: </a:t>
            </a:r>
            <a:r>
              <a:rPr b="0">
                <a:solidFill>
                  <a:srgbClr val="1E293B"/>
                </a:solidFill>
              </a:rPr>
              <a:t>Vista en Modo Cuidador y generación del informe médico en formato PDF.</a:t>
            </a:r>
          </a:p>
        </p:txBody>
      </p:sp>
    </p:spTree>
    <p:extLst>
      <p:ext uri="{BB962C8B-B14F-4D97-AF65-F5344CB8AC3E}">
        <p14:creationId xmlns:p14="http://schemas.microsoft.com/office/powerpoint/2010/main" val="230466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9. ALCANCES Y DESAFÍOS DE DESPLIEGUE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Alcances Consolidados y Ruta Técnica hacia la Transferencia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5528"/>
                </a:solidFill>
              </a:defRPr>
            </a:pPr>
            <a:r>
              <a:t>✅ Alcances Consolidados (Doc Pág. 8)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Digitalización Multimodal: </a:t>
            </a:r>
            <a:r>
              <a:rPr b="0">
                <a:solidFill>
                  <a:srgbClr val="1E293B"/>
                </a:solidFill>
              </a:rPr>
              <a:t>Visión artificial (Qwen Vision) y asistencia por voz (Whisper).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Soberanía Offline: </a:t>
            </a:r>
            <a:r>
              <a:rPr b="0">
                <a:solidFill>
                  <a:srgbClr val="1E293B"/>
                </a:solidFill>
              </a:rPr>
              <a:t>Persistencia local para tomas y consultas en zonas sin cobertura.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Supervisión Multiperfil: </a:t>
            </a:r>
            <a:r>
              <a:rPr b="0">
                <a:solidFill>
                  <a:srgbClr val="1E293B"/>
                </a:solidFill>
              </a:rPr>
              <a:t>Módulos activos de Cuidador (dependientes) y Animales (veterinaria).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Integración al Sistema Operativo: </a:t>
            </a:r>
            <a:r>
              <a:rPr b="0">
                <a:solidFill>
                  <a:srgbClr val="1E293B"/>
                </a:solidFill>
              </a:rPr>
              <a:t>Widgets de escritorio en Android y geolocalización de droguerías.</a:t>
            </a:r>
          </a:p>
          <a:p>
            <a:pPr>
              <a:spcAft>
                <a:spcPts val="600"/>
              </a:spcAft>
              <a:defRPr b="1" sz="1200">
                <a:solidFill>
                  <a:srgbClr val="007236"/>
                </a:solidFill>
              </a:defRPr>
            </a:pPr>
            <a:r>
              <a:t>• Control de Stock: </a:t>
            </a:r>
            <a:r>
              <a:rPr b="0">
                <a:solidFill>
                  <a:srgbClr val="1E293B"/>
                </a:solidFill>
              </a:rPr>
              <a:t>Deducción automática de dosis en inventario con alerta de reposición.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30352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5528"/>
                </a:solidFill>
              </a:defRPr>
            </a:pPr>
            <a:r>
              <a:t>📌 Desafíos de Despliegue (Doc Pág. 18)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➔ Publicación en Google Play Store: </a:t>
            </a:r>
            <a:r>
              <a:rPr b="0">
                <a:solidFill>
                  <a:srgbClr val="1E293B"/>
                </a:solidFill>
              </a:rPr>
              <a:t>Tránsito de certificación cumpliendo directivas de privacidad y seguridad en datos de salud.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➔ Pruebas de Usabilidad Territorial: </a:t>
            </a:r>
            <a:r>
              <a:rPr b="0">
                <a:solidFill>
                  <a:srgbClr val="1E293B"/>
                </a:solidFill>
              </a:rPr>
              <a:t>Ejecución de pruebas de campo con adultos mayores y cuidadores en municipios de Cundinamarca.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➔ Monitoreo de Consumo Cloud: </a:t>
            </a:r>
            <a:r>
              <a:rPr b="0">
                <a:solidFill>
                  <a:srgbClr val="1E293B"/>
                </a:solidFill>
              </a:rPr>
              <a:t>Supervisión de cuotas de tokens en microservicios Groq y Firebase bajo uso simultáneo.</a:t>
            </a:r>
          </a:p>
          <a:p>
            <a:pPr>
              <a:spcAft>
                <a:spcPts val="600"/>
              </a:spcAft>
              <a:defRPr b="1" sz="1200">
                <a:solidFill>
                  <a:srgbClr val="005528"/>
                </a:solidFill>
              </a:defRPr>
            </a:pPr>
            <a:r>
              <a:t>➔ Interoperabilidad Práctica: </a:t>
            </a:r>
            <a:r>
              <a:rPr b="0">
                <a:solidFill>
                  <a:srgbClr val="1E293B"/>
                </a:solidFill>
              </a:rPr>
              <a:t>Uso de informes PDF estandarizados para salvar la brecha de integración con sistemas EPS/IPS.</a:t>
            </a:r>
          </a:p>
        </p:txBody>
      </p:sp>
    </p:spTree>
    <p:extLst>
      <p:ext uri="{BB962C8B-B14F-4D97-AF65-F5344CB8AC3E}">
        <p14:creationId xmlns:p14="http://schemas.microsoft.com/office/powerpoint/2010/main" val="2536830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7A483-A337-D4A8-2EDE-D67863F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728189-C99B-0B77-927C-10FF8BC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236"/>
                </a:solidFill>
              </a:defRPr>
            </a:pPr>
            <a:r>
              <a:t>10. MINUTO EN INGLÉS (ENGLISH MINUTE)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5528"/>
                </a:solidFill>
              </a:defRPr>
            </a:pPr>
            <a:r>
              <a:t>Official Project Abstract and Research Significance (60-Second Speech)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2560320" cy="868680"/>
          </a:xfrm>
          <a:prstGeom prst="roundRect">
            <a:avLst/>
          </a:prstGeom>
          <a:solidFill>
            <a:srgbClr val="EBF6EE"/>
          </a:solidFill>
          <a:ln w="16510">
            <a:solidFill>
              <a:srgbClr val="007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5528"/>
                </a:solidFill>
              </a:defRPr>
            </a:pPr>
            <a:r>
              <a:t>~50% Non-Adherence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Clinical Problem (WHO)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91640"/>
            <a:ext cx="2560320" cy="868680"/>
          </a:xfrm>
          <a:prstGeom prst="roundRect">
            <a:avLst/>
          </a:prstGeom>
          <a:solidFill>
            <a:srgbClr val="EBF6EE"/>
          </a:solidFill>
          <a:ln w="16510">
            <a:solidFill>
              <a:srgbClr val="007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5528"/>
                </a:solidFill>
              </a:defRPr>
            </a:pPr>
            <a:r>
              <a:t>Multimodal Edge AI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Qwen Vision &amp; Whisper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560320" cy="868680"/>
          </a:xfrm>
          <a:prstGeom prst="roundRect">
            <a:avLst/>
          </a:prstGeom>
          <a:solidFill>
            <a:srgbClr val="EBF6EE"/>
          </a:solidFill>
          <a:ln w="16510">
            <a:solidFill>
              <a:srgbClr val="007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5528"/>
                </a:solidFill>
              </a:defRPr>
            </a:pPr>
            <a:r>
              <a:t>100% Native Alarms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Doze Mode Bypass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60320" cy="868680"/>
          </a:xfrm>
          <a:prstGeom prst="roundRect">
            <a:avLst/>
          </a:prstGeom>
          <a:solidFill>
            <a:srgbClr val="EBF6EE"/>
          </a:solidFill>
          <a:ln w="16510">
            <a:solidFill>
              <a:srgbClr val="007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05528"/>
                </a:solidFill>
              </a:defRPr>
            </a:pPr>
            <a:r>
              <a:t>Caregiver &amp; Web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Social Accessibility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10698480" cy="333756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10149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5528"/>
                </a:solidFill>
              </a:defRPr>
            </a:pPr>
            <a:r>
              <a:t>"Distinguished members of the evaluation committee:</a:t>
            </a:r>
          </a:p>
          <a:p>
            <a:pPr>
              <a:spcAft>
                <a:spcPts val="400"/>
              </a:spcAft>
              <a:defRPr sz="1180">
                <a:solidFill>
                  <a:srgbClr val="1E293B"/>
                </a:solidFill>
              </a:defRPr>
            </a:pPr>
            <a:r>
              <a:t>This project consolidates MediTime (v2.32.0), a comprehensive mobile solution designed to maximize compliance and accuracy in medical prescription management by leveraging emerging technologies.</a:t>
            </a:r>
          </a:p>
          <a:p>
            <a:pPr>
              <a:spcAft>
                <a:spcPts val="400"/>
              </a:spcAft>
              <a:defRPr sz="1180">
                <a:solidFill>
                  <a:srgbClr val="1E293B"/>
                </a:solidFill>
              </a:defRPr>
            </a:pPr>
            <a:r>
              <a:t>Built on Flutter and supported by Google Firebase and Groq LPU, the application surpasses conventional apps by integrating vision-based OCR extraction of handwritten prescriptions and conversational assistance via Midi AI.</a:t>
            </a:r>
          </a:p>
          <a:p>
            <a:pPr>
              <a:spcAft>
                <a:spcPts val="400"/>
              </a:spcAft>
              <a:defRPr sz="1180">
                <a:solidFill>
                  <a:srgbClr val="1E293B"/>
                </a:solidFill>
              </a:defRPr>
            </a:pPr>
            <a:r>
              <a:t>Furthermore, high-priority full-screen native alarms reliably bypass Android Doze Mode, while Caregiver and Pets modes expand social supervision for dependent family members.</a:t>
            </a:r>
          </a:p>
          <a:p>
            <a:pPr>
              <a:spcAft>
                <a:spcPts val="400"/>
              </a:spcAft>
              <a:defRPr sz="1180">
                <a:solidFill>
                  <a:srgbClr val="1E293B"/>
                </a:solidFill>
              </a:defRPr>
            </a:pPr>
            <a:r>
              <a:t>Finally, supported by our open-source web platform connected to GitHub Releases, MediTime ensures direct access, patient autonomy, and medication safety.</a:t>
            </a:r>
            <a:br/>
            <a:r>
              <a:t>Thank you very much."</a:t>
            </a:r>
          </a:p>
        </p:txBody>
      </p:sp>
    </p:spTree>
    <p:extLst>
      <p:ext uri="{BB962C8B-B14F-4D97-AF65-F5344CB8AC3E}">
        <p14:creationId xmlns:p14="http://schemas.microsoft.com/office/powerpoint/2010/main" val="193094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B776E-568A-02AF-77B9-BBCE7C39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CD5C50B-58BB-A7E7-E207-5E260770F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188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¡Transformemos la salud en Colombia!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BBF7D0"/>
                </a:solidFill>
              </a:defRPr>
            </a:pPr>
            <a:r>
              <a:t>Conclusiones de Ingeniería y Espacio de Preguntas (Doc Pág. 19-20)</a:t>
            </a:r>
          </a:p>
          <a:p>
            <a:pPr algn="ctr"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Visión AI y PLN reducen la fricción en el registro médico.</a:t>
            </a:r>
            <a:br/>
            <a:r>
              <a:t>• Alarmas nativas de pantalla completa garantizan puntualidad superando restricciones energéticas.</a:t>
            </a:r>
            <a:br/>
            <a:r>
              <a:t>• Modo Cuidador y Animales amplían el impacto hacia el cuidado colaborativo en el hogar.</a:t>
            </a:r>
            <a:br/>
            <a:r>
              <a:t>• Arquitectura híbrida (Firestore + SQLite offline) garantiza soberanía y disponibilidad de datos.</a:t>
            </a:r>
          </a:p>
        </p:txBody>
      </p:sp>
      <p:pic>
        <p:nvPicPr>
          <p:cNvPr id="6" name="Picture 5" descr="q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977639"/>
            <a:ext cx="201168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4023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EF08A"/>
                </a:solidFill>
              </a:defRPr>
            </a:pPr>
            <a:r>
              <a:t>Anexos Oficiales Entregados (Doc Pág. 22):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📄 Manual de Usuario &amp; Manual Técnico</a:t>
            </a:r>
            <a:br/>
            <a:r>
              <a:t>💡 Plan de Sostenibilidad Operativa</a:t>
            </a:r>
            <a:br/>
            <a:r>
              <a:t>🌐 Sitio Web Oficial &amp; Repositorio GitHub</a:t>
            </a:r>
            <a:br/>
            <a:r>
              <a:t>📦 Enlace de Descarga APK Release (releases/latest)</a:t>
            </a:r>
          </a:p>
          <a:p>
            <a:pPr>
              <a:defRPr sz="1150" b="1">
                <a:solidFill>
                  <a:srgbClr val="BBF7D0"/>
                </a:solidFill>
              </a:defRPr>
            </a:pPr>
            <a:r>
              <a:t>github.com/JDkinior/MediTime</a:t>
            </a:r>
          </a:p>
        </p:txBody>
      </p:sp>
    </p:spTree>
    <p:extLst>
      <p:ext uri="{BB962C8B-B14F-4D97-AF65-F5344CB8AC3E}">
        <p14:creationId xmlns:p14="http://schemas.microsoft.com/office/powerpoint/2010/main" val="1588276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</Words>
  <Application>Microsoft Office PowerPoint</Application>
  <PresentationFormat>Panorámica</PresentationFormat>
  <Paragraphs>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FELIPE MATALLANA MANJARRES</dc:creator>
  <cp:lastModifiedBy>JORGE ELIECER DELGADO CORTES</cp:lastModifiedBy>
  <cp:revision>3</cp:revision>
  <dcterms:created xsi:type="dcterms:W3CDTF">2026-07-27T22:02:09Z</dcterms:created>
  <dcterms:modified xsi:type="dcterms:W3CDTF">2026-10-26T01:08:59Z</dcterms:modified>
</cp:coreProperties>
</file>