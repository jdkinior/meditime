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  <p:sldId id="275" r:id="rId10"/>
    <p:sldId id="276" r:id="rId11"/>
    <p:sldId id="277" r:id="rId12"/>
    <p:sldId id="274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2B"/>
    <a:srgbClr val="0F3E2C"/>
    <a:srgbClr val="5CF0CD"/>
    <a:srgbClr val="00965D"/>
    <a:srgbClr val="28A475"/>
    <a:srgbClr val="00B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128" y="60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9F6FA-9C7A-4497-B965-30359750120D}" type="datetimeFigureOut">
              <a:rPr lang="es-CO" smtClean="0"/>
              <a:t>5/05/2026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169FE-AA24-4497-B049-1E8CC8CF3B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086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9169FE-AA24-4497-B049-1E8CC8CF3B1A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991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94018" y="2049995"/>
            <a:ext cx="444563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64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64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523"/>
            <a:ext cx="12190476" cy="68564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9664" y="1624914"/>
            <a:ext cx="4552670" cy="1367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525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4589" y="3435016"/>
            <a:ext cx="4535805" cy="2166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solidFill>
                  <a:srgbClr val="FFFFFF"/>
                </a:solidFill>
                <a:latin typeface="Arial"/>
                <a:cs typeface="Arial"/>
              </a:rPr>
              <a:t>DEVELOPMENT OF A MOBILE APPLICATION FOR THE MANAGEMENT OF MEDICAL TREATMENTS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(MEDITIME)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4589" y="5943600"/>
            <a:ext cx="435991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Jorge</a:t>
            </a:r>
            <a:r>
              <a:rPr sz="1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Eliecer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Delgado</a:t>
            </a:r>
            <a:r>
              <a:rPr sz="1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Cortés</a:t>
            </a:r>
            <a:endParaRPr lang="es-CO" sz="1600" spc="-3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Johan</a:t>
            </a:r>
            <a:r>
              <a:rPr sz="16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Alexander </a:t>
            </a:r>
            <a:r>
              <a:rPr sz="1600" dirty="0">
                <a:solidFill>
                  <a:srgbClr val="FFFFFF"/>
                </a:solidFill>
                <a:latin typeface="Arial MT"/>
                <a:cs typeface="Arial MT"/>
              </a:rPr>
              <a:t>Arévalo</a:t>
            </a:r>
            <a:r>
              <a:rPr sz="1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Arial MT"/>
                <a:cs typeface="Arial MT"/>
              </a:rPr>
              <a:t>Contreras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37F61D06-259F-1D12-926E-CCD33375E909}"/>
              </a:ext>
            </a:extLst>
          </p:cNvPr>
          <p:cNvSpPr/>
          <p:nvPr/>
        </p:nvSpPr>
        <p:spPr>
          <a:xfrm>
            <a:off x="5943601" y="-22167"/>
            <a:ext cx="6248399" cy="4540493"/>
          </a:xfrm>
          <a:custGeom>
            <a:avLst/>
            <a:gdLst>
              <a:gd name="csX0" fmla="*/ 71623 w 6248399"/>
              <a:gd name="csY0" fmla="*/ 0 h 4540493"/>
              <a:gd name="csX1" fmla="*/ 6248399 w 6248399"/>
              <a:gd name="csY1" fmla="*/ 0 h 4540493"/>
              <a:gd name="csX2" fmla="*/ 6248399 w 6248399"/>
              <a:gd name="csY2" fmla="*/ 3717241 h 4540493"/>
              <a:gd name="csX3" fmla="*/ 6014737 w 6248399"/>
              <a:gd name="csY3" fmla="*/ 3889805 h 4540493"/>
              <a:gd name="csX4" fmla="*/ 3857803 w 6248399"/>
              <a:gd name="csY4" fmla="*/ 4540493 h 4540493"/>
              <a:gd name="csX5" fmla="*/ 0 w 6248399"/>
              <a:gd name="csY5" fmla="*/ 730493 h 4540493"/>
              <a:gd name="csX6" fmla="*/ 44451 w 6248399"/>
              <a:gd name="csY6" fmla="*/ 150268 h 45404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248399" h="4540493">
                <a:moveTo>
                  <a:pt x="71623" y="0"/>
                </a:moveTo>
                <a:lnTo>
                  <a:pt x="6248399" y="0"/>
                </a:lnTo>
                <a:lnTo>
                  <a:pt x="6248399" y="3717241"/>
                </a:lnTo>
                <a:lnTo>
                  <a:pt x="6014737" y="3889805"/>
                </a:lnTo>
                <a:cubicBezTo>
                  <a:pt x="5399028" y="4300616"/>
                  <a:pt x="4656780" y="4540493"/>
                  <a:pt x="3857803" y="4540493"/>
                </a:cubicBezTo>
                <a:cubicBezTo>
                  <a:pt x="1727197" y="4540493"/>
                  <a:pt x="0" y="2834698"/>
                  <a:pt x="0" y="730493"/>
                </a:cubicBezTo>
                <a:cubicBezTo>
                  <a:pt x="0" y="533224"/>
                  <a:pt x="15181" y="339456"/>
                  <a:pt x="44451" y="150268"/>
                </a:cubicBezTo>
                <a:close/>
              </a:path>
            </a:pathLst>
          </a:cu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7C69ACF-6C20-20BE-C82F-19FD71AA00C1}"/>
              </a:ext>
            </a:extLst>
          </p:cNvPr>
          <p:cNvSpPr txBox="1"/>
          <p:nvPr/>
        </p:nvSpPr>
        <p:spPr>
          <a:xfrm>
            <a:off x="6781800" y="838200"/>
            <a:ext cx="4535805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lang="es-CO" sz="6600" b="1" spc="-10" dirty="0">
                <a:solidFill>
                  <a:srgbClr val="FFFFFF"/>
                </a:solidFill>
                <a:latin typeface="Century Gothic" panose="020B0502020202020204" pitchFamily="34" charset="0"/>
                <a:cs typeface="Arial"/>
              </a:rPr>
              <a:t>MEDITIME</a:t>
            </a:r>
            <a:endParaRPr sz="66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8663B82-E4FE-77B0-E68B-B1265A217CCE}"/>
              </a:ext>
            </a:extLst>
          </p:cNvPr>
          <p:cNvSpPr txBox="1"/>
          <p:nvPr/>
        </p:nvSpPr>
        <p:spPr>
          <a:xfrm>
            <a:off x="7391400" y="1866045"/>
            <a:ext cx="392620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r">
              <a:lnSpc>
                <a:spcPct val="100000"/>
              </a:lnSpc>
              <a:spcBef>
                <a:spcPts val="95"/>
              </a:spcBef>
            </a:pPr>
            <a:r>
              <a:rPr lang="es-CO" sz="2000" spc="-10" dirty="0">
                <a:solidFill>
                  <a:srgbClr val="FFFFFF"/>
                </a:solidFill>
                <a:latin typeface="Century Gothic" panose="020B0502020202020204" pitchFamily="34" charset="0"/>
                <a:cs typeface="Arial"/>
              </a:rPr>
              <a:t>Controla tus medicamentos mejora tu salud</a:t>
            </a:r>
            <a:endParaRPr sz="2000" dirty="0">
              <a:latin typeface="Century Gothic" panose="020B0502020202020204" pitchFamily="34" charset="0"/>
              <a:cs typeface="Arial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3ECF12-E7F5-E982-B1AA-B112877504C7}"/>
              </a:ext>
            </a:extLst>
          </p:cNvPr>
          <p:cNvSpPr/>
          <p:nvPr/>
        </p:nvSpPr>
        <p:spPr>
          <a:xfrm>
            <a:off x="11506200" y="1066800"/>
            <a:ext cx="45719" cy="142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15">
            <a:extLst>
              <a:ext uri="{FF2B5EF4-FFF2-40B4-BE49-F238E27FC236}">
                <a16:creationId xmlns:a16="http://schemas.microsoft.com/office/drawing/2014/main" id="{8AA3B778-342A-A5E8-4551-55ABBE343F6B}"/>
              </a:ext>
            </a:extLst>
          </p:cNvPr>
          <p:cNvSpPr txBox="1"/>
          <p:nvPr/>
        </p:nvSpPr>
        <p:spPr>
          <a:xfrm>
            <a:off x="5410200" y="3302422"/>
            <a:ext cx="6781800" cy="13619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2400" b="0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El 59% de los pacientes en Colombia no cumple sus tratamientos médicos </a:t>
            </a:r>
          </a:p>
          <a:p>
            <a:endParaRPr lang="es-MX" sz="1050" b="0" i="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r>
              <a:rPr lang="es-MX" sz="1800" b="1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s-MX" sz="2400" b="1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y la principal causa es el olvido.</a:t>
            </a:r>
            <a:endParaRPr lang="es-MX" sz="18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oogle Shape;2098;p13">
            <a:extLst>
              <a:ext uri="{FF2B5EF4-FFF2-40B4-BE49-F238E27FC236}">
                <a16:creationId xmlns:a16="http://schemas.microsoft.com/office/drawing/2014/main" id="{AA87589F-5245-E1C8-2C39-C1D752C20199}"/>
              </a:ext>
            </a:extLst>
          </p:cNvPr>
          <p:cNvSpPr txBox="1">
            <a:spLocks/>
          </p:cNvSpPr>
          <p:nvPr/>
        </p:nvSpPr>
        <p:spPr>
          <a:xfrm>
            <a:off x="8686800" y="4660322"/>
            <a:ext cx="2898205" cy="433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lnSpc>
                <a:spcPct val="90000"/>
              </a:lnSpc>
              <a:buClr>
                <a:schemeClr val="lt1"/>
              </a:buClr>
              <a:buSzPts val="4800"/>
              <a:buFont typeface="Century Gothic"/>
              <a:buNone/>
            </a:pPr>
            <a:r>
              <a:rPr lang="es-MX" sz="1600" dirty="0">
                <a:solidFill>
                  <a:schemeClr val="bg1"/>
                </a:solidFill>
                <a:latin typeface="Century Gothic" panose="020B0502020202020204" pitchFamily="34" charset="0"/>
              </a:rPr>
              <a:t>(OMS, 2023)</a:t>
            </a:r>
            <a:endParaRPr lang="es-CO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6EF35B8-8CF2-3A11-F745-DC0FA68CF2CB}"/>
              </a:ext>
            </a:extLst>
          </p:cNvPr>
          <p:cNvSpPr/>
          <p:nvPr/>
        </p:nvSpPr>
        <p:spPr>
          <a:xfrm rot="19990546">
            <a:off x="1643045" y="2664808"/>
            <a:ext cx="2061701" cy="99977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965D"/>
              </a:gs>
              <a:gs pos="100000">
                <a:srgbClr val="28A475"/>
              </a:gs>
            </a:gsLst>
            <a:lin ang="13500000" scaled="1"/>
            <a:tileRect/>
          </a:gradFill>
          <a:ln>
            <a:noFill/>
          </a:ln>
          <a:effectLst>
            <a:outerShdw blurRad="698500" sx="113000" sy="113000" algn="ctr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862F1C5D-8ED2-38BD-11EE-EFE463C7E982}"/>
              </a:ext>
            </a:extLst>
          </p:cNvPr>
          <p:cNvSpPr/>
          <p:nvPr/>
        </p:nvSpPr>
        <p:spPr>
          <a:xfrm rot="19977162">
            <a:off x="1696716" y="2887776"/>
            <a:ext cx="1072393" cy="1001980"/>
          </a:xfrm>
          <a:custGeom>
            <a:avLst/>
            <a:gdLst>
              <a:gd name="connsiteX0" fmla="*/ 497689 w 497689"/>
              <a:gd name="connsiteY0" fmla="*/ 1028 h 467695"/>
              <a:gd name="connsiteX1" fmla="*/ 497689 w 497689"/>
              <a:gd name="connsiteY1" fmla="*/ 467695 h 467695"/>
              <a:gd name="connsiteX2" fmla="*/ 232424 w 497689"/>
              <a:gd name="connsiteY2" fmla="*/ 466663 h 467695"/>
              <a:gd name="connsiteX3" fmla="*/ 2 w 497689"/>
              <a:gd name="connsiteY3" fmla="*/ 232424 h 467695"/>
              <a:gd name="connsiteX4" fmla="*/ 234241 w 497689"/>
              <a:gd name="connsiteY4" fmla="*/ 2 h 46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689" h="467695">
                <a:moveTo>
                  <a:pt x="497689" y="1028"/>
                </a:moveTo>
                <a:lnTo>
                  <a:pt x="497689" y="467695"/>
                </a:lnTo>
                <a:lnTo>
                  <a:pt x="232424" y="466663"/>
                </a:lnTo>
                <a:cubicBezTo>
                  <a:pt x="103559" y="466161"/>
                  <a:pt x="-500" y="361289"/>
                  <a:pt x="2" y="232424"/>
                </a:cubicBezTo>
                <a:cubicBezTo>
                  <a:pt x="504" y="103559"/>
                  <a:pt x="105376" y="-500"/>
                  <a:pt x="234241" y="2"/>
                </a:cubicBezTo>
                <a:close/>
              </a:path>
            </a:pathLst>
          </a:custGeom>
          <a:gradFill>
            <a:gsLst>
              <a:gs pos="0">
                <a:srgbClr val="5CF0CD"/>
              </a:gs>
              <a:gs pos="100000">
                <a:srgbClr val="0EA3C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9780C80-1909-D4D2-4FCC-1701AA306F7C}"/>
              </a:ext>
            </a:extLst>
          </p:cNvPr>
          <p:cNvSpPr/>
          <p:nvPr/>
        </p:nvSpPr>
        <p:spPr>
          <a:xfrm rot="19990546">
            <a:off x="1921038" y="2819135"/>
            <a:ext cx="912544" cy="154747"/>
          </a:xfrm>
          <a:prstGeom prst="roundRect">
            <a:avLst>
              <a:gd name="adj" fmla="val 50000"/>
            </a:avLst>
          </a:prstGeom>
          <a:solidFill>
            <a:schemeClr val="bg1">
              <a:alpha val="42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2" name="Forma libre: forma 21">
            <a:extLst>
              <a:ext uri="{FF2B5EF4-FFF2-40B4-BE49-F238E27FC236}">
                <a16:creationId xmlns:a16="http://schemas.microsoft.com/office/drawing/2014/main" id="{378EE235-0AD4-544B-9361-C64921825056}"/>
              </a:ext>
            </a:extLst>
          </p:cNvPr>
          <p:cNvSpPr/>
          <p:nvPr/>
        </p:nvSpPr>
        <p:spPr>
          <a:xfrm rot="19533925">
            <a:off x="2739678" y="3110008"/>
            <a:ext cx="1334816" cy="1334816"/>
          </a:xfrm>
          <a:custGeom>
            <a:avLst/>
            <a:gdLst>
              <a:gd name="connsiteX0" fmla="*/ 613215 w 2941128"/>
              <a:gd name="connsiteY0" fmla="*/ 1185116 h 2941128"/>
              <a:gd name="connsiteX1" fmla="*/ 384714 w 2941128"/>
              <a:gd name="connsiteY1" fmla="*/ 1413617 h 2941128"/>
              <a:gd name="connsiteX2" fmla="*/ 384714 w 2941128"/>
              <a:gd name="connsiteY2" fmla="*/ 1527510 h 2941128"/>
              <a:gd name="connsiteX3" fmla="*/ 613215 w 2941128"/>
              <a:gd name="connsiteY3" fmla="*/ 1756011 h 2941128"/>
              <a:gd name="connsiteX4" fmla="*/ 2327913 w 2941128"/>
              <a:gd name="connsiteY4" fmla="*/ 1756011 h 2941128"/>
              <a:gd name="connsiteX5" fmla="*/ 2556414 w 2941128"/>
              <a:gd name="connsiteY5" fmla="*/ 1527510 h 2941128"/>
              <a:gd name="connsiteX6" fmla="*/ 2556414 w 2941128"/>
              <a:gd name="connsiteY6" fmla="*/ 1413617 h 2941128"/>
              <a:gd name="connsiteX7" fmla="*/ 2327913 w 2941128"/>
              <a:gd name="connsiteY7" fmla="*/ 1185116 h 2941128"/>
              <a:gd name="connsiteX8" fmla="*/ 1470564 w 2941128"/>
              <a:gd name="connsiteY8" fmla="*/ 0 h 2941128"/>
              <a:gd name="connsiteX9" fmla="*/ 2941128 w 2941128"/>
              <a:gd name="connsiteY9" fmla="*/ 1470564 h 2941128"/>
              <a:gd name="connsiteX10" fmla="*/ 1470564 w 2941128"/>
              <a:gd name="connsiteY10" fmla="*/ 2941128 h 2941128"/>
              <a:gd name="connsiteX11" fmla="*/ 0 w 2941128"/>
              <a:gd name="connsiteY11" fmla="*/ 1470564 h 2941128"/>
              <a:gd name="connsiteX12" fmla="*/ 1470564 w 2941128"/>
              <a:gd name="connsiteY12" fmla="*/ 0 h 2941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41128" h="2941128">
                <a:moveTo>
                  <a:pt x="613215" y="1185116"/>
                </a:moveTo>
                <a:cubicBezTo>
                  <a:pt x="487017" y="1185116"/>
                  <a:pt x="384714" y="1287419"/>
                  <a:pt x="384714" y="1413617"/>
                </a:cubicBezTo>
                <a:lnTo>
                  <a:pt x="384714" y="1527510"/>
                </a:lnTo>
                <a:cubicBezTo>
                  <a:pt x="384714" y="1653708"/>
                  <a:pt x="487017" y="1756011"/>
                  <a:pt x="613215" y="1756011"/>
                </a:cubicBezTo>
                <a:lnTo>
                  <a:pt x="2327913" y="1756011"/>
                </a:lnTo>
                <a:cubicBezTo>
                  <a:pt x="2454111" y="1756011"/>
                  <a:pt x="2556414" y="1653708"/>
                  <a:pt x="2556414" y="1527510"/>
                </a:cubicBezTo>
                <a:lnTo>
                  <a:pt x="2556414" y="1413617"/>
                </a:lnTo>
                <a:cubicBezTo>
                  <a:pt x="2556414" y="1287419"/>
                  <a:pt x="2454111" y="1185116"/>
                  <a:pt x="2327913" y="1185116"/>
                </a:cubicBezTo>
                <a:close/>
                <a:moveTo>
                  <a:pt x="1470564" y="0"/>
                </a:moveTo>
                <a:cubicBezTo>
                  <a:pt x="2282734" y="0"/>
                  <a:pt x="2941128" y="658394"/>
                  <a:pt x="2941128" y="1470564"/>
                </a:cubicBezTo>
                <a:cubicBezTo>
                  <a:pt x="2941128" y="2282734"/>
                  <a:pt x="2282734" y="2941128"/>
                  <a:pt x="1470564" y="2941128"/>
                </a:cubicBezTo>
                <a:cubicBezTo>
                  <a:pt x="658394" y="2941128"/>
                  <a:pt x="0" y="2282734"/>
                  <a:pt x="0" y="1470564"/>
                </a:cubicBezTo>
                <a:cubicBezTo>
                  <a:pt x="0" y="658394"/>
                  <a:pt x="658394" y="0"/>
                  <a:pt x="147056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12725">
            <a:noFill/>
          </a:ln>
          <a:effectLst>
            <a:outerShdw blurRad="685800" dist="50800" dir="5400000" sx="120000" sy="120000" algn="ctr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C57A19F-A6E9-79A7-5B48-E885C23B7A02}"/>
              </a:ext>
            </a:extLst>
          </p:cNvPr>
          <p:cNvSpPr/>
          <p:nvPr/>
        </p:nvSpPr>
        <p:spPr>
          <a:xfrm>
            <a:off x="2858451" y="3273846"/>
            <a:ext cx="1119481" cy="1006378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Forma libre: forma 23">
            <a:extLst>
              <a:ext uri="{FF2B5EF4-FFF2-40B4-BE49-F238E27FC236}">
                <a16:creationId xmlns:a16="http://schemas.microsoft.com/office/drawing/2014/main" id="{27CFB7DD-BBC6-E1F6-103E-54FB9D4C8824}"/>
              </a:ext>
            </a:extLst>
          </p:cNvPr>
          <p:cNvSpPr/>
          <p:nvPr/>
        </p:nvSpPr>
        <p:spPr>
          <a:xfrm rot="19533925">
            <a:off x="2698848" y="3065059"/>
            <a:ext cx="1334816" cy="1334816"/>
          </a:xfrm>
          <a:custGeom>
            <a:avLst/>
            <a:gdLst>
              <a:gd name="connsiteX0" fmla="*/ 613215 w 2941128"/>
              <a:gd name="connsiteY0" fmla="*/ 1185116 h 2941128"/>
              <a:gd name="connsiteX1" fmla="*/ 384714 w 2941128"/>
              <a:gd name="connsiteY1" fmla="*/ 1413617 h 2941128"/>
              <a:gd name="connsiteX2" fmla="*/ 384714 w 2941128"/>
              <a:gd name="connsiteY2" fmla="*/ 1527510 h 2941128"/>
              <a:gd name="connsiteX3" fmla="*/ 613215 w 2941128"/>
              <a:gd name="connsiteY3" fmla="*/ 1756011 h 2941128"/>
              <a:gd name="connsiteX4" fmla="*/ 2327913 w 2941128"/>
              <a:gd name="connsiteY4" fmla="*/ 1756011 h 2941128"/>
              <a:gd name="connsiteX5" fmla="*/ 2556414 w 2941128"/>
              <a:gd name="connsiteY5" fmla="*/ 1527510 h 2941128"/>
              <a:gd name="connsiteX6" fmla="*/ 2556414 w 2941128"/>
              <a:gd name="connsiteY6" fmla="*/ 1413617 h 2941128"/>
              <a:gd name="connsiteX7" fmla="*/ 2327913 w 2941128"/>
              <a:gd name="connsiteY7" fmla="*/ 1185116 h 2941128"/>
              <a:gd name="connsiteX8" fmla="*/ 1470564 w 2941128"/>
              <a:gd name="connsiteY8" fmla="*/ 0 h 2941128"/>
              <a:gd name="connsiteX9" fmla="*/ 2941128 w 2941128"/>
              <a:gd name="connsiteY9" fmla="*/ 1470564 h 2941128"/>
              <a:gd name="connsiteX10" fmla="*/ 1470564 w 2941128"/>
              <a:gd name="connsiteY10" fmla="*/ 2941128 h 2941128"/>
              <a:gd name="connsiteX11" fmla="*/ 0 w 2941128"/>
              <a:gd name="connsiteY11" fmla="*/ 1470564 h 2941128"/>
              <a:gd name="connsiteX12" fmla="*/ 1470564 w 2941128"/>
              <a:gd name="connsiteY12" fmla="*/ 0 h 2941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41128" h="2941128">
                <a:moveTo>
                  <a:pt x="613215" y="1185116"/>
                </a:moveTo>
                <a:cubicBezTo>
                  <a:pt x="487017" y="1185116"/>
                  <a:pt x="384714" y="1287419"/>
                  <a:pt x="384714" y="1413617"/>
                </a:cubicBezTo>
                <a:lnTo>
                  <a:pt x="384714" y="1527510"/>
                </a:lnTo>
                <a:cubicBezTo>
                  <a:pt x="384714" y="1653708"/>
                  <a:pt x="487017" y="1756011"/>
                  <a:pt x="613215" y="1756011"/>
                </a:cubicBezTo>
                <a:lnTo>
                  <a:pt x="2327913" y="1756011"/>
                </a:lnTo>
                <a:cubicBezTo>
                  <a:pt x="2454111" y="1756011"/>
                  <a:pt x="2556414" y="1653708"/>
                  <a:pt x="2556414" y="1527510"/>
                </a:cubicBezTo>
                <a:lnTo>
                  <a:pt x="2556414" y="1413617"/>
                </a:lnTo>
                <a:cubicBezTo>
                  <a:pt x="2556414" y="1287419"/>
                  <a:pt x="2454111" y="1185116"/>
                  <a:pt x="2327913" y="1185116"/>
                </a:cubicBezTo>
                <a:close/>
                <a:moveTo>
                  <a:pt x="1470564" y="0"/>
                </a:moveTo>
                <a:cubicBezTo>
                  <a:pt x="2282734" y="0"/>
                  <a:pt x="2941128" y="658394"/>
                  <a:pt x="2941128" y="1470564"/>
                </a:cubicBezTo>
                <a:cubicBezTo>
                  <a:pt x="2941128" y="2282734"/>
                  <a:pt x="2282734" y="2941128"/>
                  <a:pt x="1470564" y="2941128"/>
                </a:cubicBezTo>
                <a:cubicBezTo>
                  <a:pt x="658394" y="2941128"/>
                  <a:pt x="0" y="2282734"/>
                  <a:pt x="0" y="1470564"/>
                </a:cubicBezTo>
                <a:cubicBezTo>
                  <a:pt x="0" y="658394"/>
                  <a:pt x="658394" y="0"/>
                  <a:pt x="1470564" y="0"/>
                </a:cubicBezTo>
                <a:close/>
              </a:path>
            </a:pathLst>
          </a:custGeom>
          <a:gradFill flip="none" rotWithShape="1">
            <a:gsLst>
              <a:gs pos="0">
                <a:srgbClr val="C2C2C2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2127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887AA785-B1B9-F980-F640-A4F8A98AE74F}"/>
              </a:ext>
            </a:extLst>
          </p:cNvPr>
          <p:cNvSpPr/>
          <p:nvPr/>
        </p:nvSpPr>
        <p:spPr>
          <a:xfrm rot="19990546">
            <a:off x="2831929" y="2567774"/>
            <a:ext cx="162958" cy="139287"/>
          </a:xfrm>
          <a:prstGeom prst="roundRect">
            <a:avLst>
              <a:gd name="adj" fmla="val 50000"/>
            </a:avLst>
          </a:prstGeom>
          <a:solidFill>
            <a:schemeClr val="bg1">
              <a:alpha val="42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64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05600" y="1752600"/>
            <a:ext cx="3829050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s-MX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¿Y si la </a:t>
            </a:r>
            <a:r>
              <a:rPr lang="es-MX" sz="4000" b="1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tecnología</a:t>
            </a:r>
            <a:r>
              <a:rPr lang="es-MX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pudiera hacer más que solo </a:t>
            </a:r>
            <a:r>
              <a:rPr lang="es-MX" sz="4000" b="1" i="0" dirty="0">
                <a:solidFill>
                  <a:srgbClr val="007B3E"/>
                </a:solidFill>
                <a:effectLst/>
                <a:latin typeface="Century Gothic" panose="020B0502020202020204" pitchFamily="34" charset="0"/>
              </a:rPr>
              <a:t>recordarte </a:t>
            </a:r>
            <a:r>
              <a:rPr lang="es-MX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una </a:t>
            </a:r>
            <a:r>
              <a:rPr lang="es-MX" sz="4000" b="1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hora</a:t>
            </a:r>
            <a:r>
              <a:rPr lang="es-MX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?</a:t>
            </a:r>
            <a:r>
              <a:rPr lang="es-MX" sz="3200" b="1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.</a:t>
            </a:r>
            <a:endParaRPr lang="es-MX" sz="32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A08DD9B-2A27-33F6-91DD-839BE991485C}"/>
              </a:ext>
            </a:extLst>
          </p:cNvPr>
          <p:cNvGrpSpPr/>
          <p:nvPr/>
        </p:nvGrpSpPr>
        <p:grpSpPr>
          <a:xfrm>
            <a:off x="3200400" y="2209800"/>
            <a:ext cx="1652252" cy="2438399"/>
            <a:chOff x="2870836" y="3487319"/>
            <a:chExt cx="333374" cy="596187"/>
          </a:xfrm>
          <a:effectLst>
            <a:outerShdw blurRad="508000" dir="1320000" sx="103000" sy="103000" algn="ctr" rotWithShape="0">
              <a:prstClr val="black">
                <a:alpha val="21000"/>
              </a:prstClr>
            </a:outerShdw>
          </a:effectLst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72D2840A-BD5A-C829-FA2B-403AEB3FBA59}"/>
                </a:ext>
              </a:extLst>
            </p:cNvPr>
            <p:cNvSpPr/>
            <p:nvPr/>
          </p:nvSpPr>
          <p:spPr>
            <a:xfrm>
              <a:off x="2893697" y="3487319"/>
              <a:ext cx="310513" cy="596187"/>
            </a:xfrm>
            <a:prstGeom prst="roundRect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5D867361-8844-BD49-D484-C417C66B106E}"/>
                </a:ext>
              </a:extLst>
            </p:cNvPr>
            <p:cNvSpPr/>
            <p:nvPr/>
          </p:nvSpPr>
          <p:spPr>
            <a:xfrm>
              <a:off x="2870836" y="3487319"/>
              <a:ext cx="310513" cy="596187"/>
            </a:xfrm>
            <a:prstGeom prst="roundRect">
              <a:avLst/>
            </a:prstGeom>
            <a:gradFill flip="none" rotWithShape="1">
              <a:gsLst>
                <a:gs pos="0">
                  <a:srgbClr val="494949"/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E6573D69-0B8F-D274-E50F-6BA339E756E1}"/>
              </a:ext>
            </a:extLst>
          </p:cNvPr>
          <p:cNvSpPr/>
          <p:nvPr/>
        </p:nvSpPr>
        <p:spPr>
          <a:xfrm>
            <a:off x="3268190" y="2345265"/>
            <a:ext cx="1403364" cy="2167122"/>
          </a:xfrm>
          <a:prstGeom prst="roundRect">
            <a:avLst>
              <a:gd name="adj" fmla="val 9267"/>
            </a:avLst>
          </a:prstGeom>
          <a:gradFill flip="none" rotWithShape="1">
            <a:gsLst>
              <a:gs pos="0">
                <a:srgbClr val="68FFFA">
                  <a:tint val="66000"/>
                  <a:satMod val="160000"/>
                </a:srgbClr>
              </a:gs>
              <a:gs pos="50000">
                <a:srgbClr val="68FFFA">
                  <a:tint val="44500"/>
                  <a:satMod val="160000"/>
                </a:srgbClr>
              </a:gs>
              <a:gs pos="100000">
                <a:srgbClr val="68FFFA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D83A13F-E0D0-0BE0-3E46-465FE18A84C9}"/>
              </a:ext>
            </a:extLst>
          </p:cNvPr>
          <p:cNvSpPr/>
          <p:nvPr/>
        </p:nvSpPr>
        <p:spPr>
          <a:xfrm rot="17666693">
            <a:off x="2880040" y="3273055"/>
            <a:ext cx="2185404" cy="311534"/>
          </a:xfrm>
          <a:prstGeom prst="roundRect">
            <a:avLst>
              <a:gd name="adj" fmla="val 50000"/>
            </a:avLst>
          </a:prstGeom>
          <a:solidFill>
            <a:schemeClr val="bg1">
              <a:alpha val="49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8DEEE5E-3577-15BD-F15A-2D8C2B03F9BA}"/>
              </a:ext>
            </a:extLst>
          </p:cNvPr>
          <p:cNvSpPr/>
          <p:nvPr/>
        </p:nvSpPr>
        <p:spPr>
          <a:xfrm rot="17666693">
            <a:off x="3460186" y="3681292"/>
            <a:ext cx="1470163" cy="226590"/>
          </a:xfrm>
          <a:prstGeom prst="roundRect">
            <a:avLst>
              <a:gd name="adj" fmla="val 50000"/>
            </a:avLst>
          </a:prstGeom>
          <a:solidFill>
            <a:schemeClr val="bg1">
              <a:alpha val="49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95600" y="2895600"/>
            <a:ext cx="21336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6000" spc="-10" dirty="0" err="1">
                <a:solidFill>
                  <a:srgbClr val="00482B"/>
                </a:solidFill>
              </a:rPr>
              <a:t>Issue</a:t>
            </a:r>
            <a:r>
              <a:rPr lang="es-CO" sz="6000" spc="-10" dirty="0">
                <a:solidFill>
                  <a:srgbClr val="00482B"/>
                </a:solidFill>
              </a:rPr>
              <a:t> </a:t>
            </a:r>
            <a:endParaRPr sz="6000" spc="-10" dirty="0">
              <a:solidFill>
                <a:srgbClr val="00482B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00800" y="1676400"/>
            <a:ext cx="4528820" cy="39517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rtl="0">
              <a:spcBef>
                <a:spcPts val="95"/>
              </a:spcBef>
            </a:pPr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How can a </a:t>
            </a:r>
            <a:r>
              <a:rPr lang="en-US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mobile app </a:t>
            </a:r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optimize the management of </a:t>
            </a:r>
            <a:r>
              <a:rPr lang="en-US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medical treatments </a:t>
            </a:r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to improve patient adherence and the efficiency of </a:t>
            </a:r>
            <a:r>
              <a:rPr lang="en-US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patient follow-up</a:t>
            </a:r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?</a:t>
            </a:r>
            <a:endParaRPr lang="es-CO" sz="2800" dirty="0"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4" name="object 2" descr="$PPTXTitle">
            <a:extLst>
              <a:ext uri="{FF2B5EF4-FFF2-40B4-BE49-F238E27FC236}">
                <a16:creationId xmlns:a16="http://schemas.microsoft.com/office/drawing/2014/main" id="{70936FA0-F0DA-3085-29EF-56024D5B9F7C}"/>
              </a:ext>
            </a:extLst>
          </p:cNvPr>
          <p:cNvSpPr txBox="1">
            <a:spLocks/>
          </p:cNvSpPr>
          <p:nvPr/>
        </p:nvSpPr>
        <p:spPr>
          <a:xfrm>
            <a:off x="2895600" y="6248400"/>
            <a:ext cx="21336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1" i="0">
                <a:solidFill>
                  <a:srgbClr val="25252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s-CO" sz="6000" spc="-10">
                <a:solidFill>
                  <a:srgbClr val="00482B"/>
                </a:solidFill>
              </a:rPr>
              <a:t>Issue </a:t>
            </a:r>
            <a:endParaRPr lang="es-CO" sz="6000" spc="-10" dirty="0">
              <a:solidFill>
                <a:srgbClr val="00482B"/>
              </a:solidFill>
            </a:endParaRPr>
          </a:p>
        </p:txBody>
      </p:sp>
      <p:sp>
        <p:nvSpPr>
          <p:cNvPr id="5" name="object 2" descr="$PPTXTitle">
            <a:extLst>
              <a:ext uri="{FF2B5EF4-FFF2-40B4-BE49-F238E27FC236}">
                <a16:creationId xmlns:a16="http://schemas.microsoft.com/office/drawing/2014/main" id="{12833A3E-18AE-C5BE-227D-C3CFCA185865}"/>
              </a:ext>
            </a:extLst>
          </p:cNvPr>
          <p:cNvSpPr txBox="1">
            <a:spLocks/>
          </p:cNvSpPr>
          <p:nvPr/>
        </p:nvSpPr>
        <p:spPr>
          <a:xfrm>
            <a:off x="2971800" y="-478971"/>
            <a:ext cx="21336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400" b="1" i="0">
                <a:solidFill>
                  <a:srgbClr val="25252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s-CO" sz="6000" spc="-10">
                <a:solidFill>
                  <a:srgbClr val="00482B"/>
                </a:solidFill>
              </a:rPr>
              <a:t>Issue </a:t>
            </a:r>
            <a:endParaRPr lang="es-CO" sz="6000" spc="-10" dirty="0">
              <a:solidFill>
                <a:srgbClr val="00482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64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19664" y="1624914"/>
            <a:ext cx="45526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chemeClr val="bg1"/>
                </a:solidFill>
              </a:rPr>
              <a:t>JUSTIFICACIÓN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5349" y="2992703"/>
            <a:ext cx="7041300" cy="17485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s-ES" sz="4800" dirty="0">
                <a:solidFill>
                  <a:schemeClr val="bg1"/>
                </a:solidFill>
                <a:latin typeface="Century Gothic" panose="020B0502020202020204" pitchFamily="34" charset="0"/>
              </a:rPr>
              <a:t>Afecta salud, costos y vida.</a:t>
            </a:r>
            <a:endParaRPr lang="es-MX" sz="4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5B5EBF-E63B-B1D0-A9E5-A076023B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20B399F-38B4-869F-92D3-D99044065F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425"/>
            <a:ext cx="12192000" cy="6758118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07046AE7-8DE1-0F2A-EBFE-EB23B70F1A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9665" y="1295400"/>
            <a:ext cx="4552670" cy="123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4800"/>
              <a:buFont typeface="Century Gothic"/>
              <a:buNone/>
            </a:pPr>
            <a:r>
              <a:rPr lang="es-CO" dirty="0">
                <a:solidFill>
                  <a:srgbClr val="00482B"/>
                </a:solidFill>
                <a:latin typeface="Century Gothic" panose="020B0502020202020204" pitchFamily="34" charset="0"/>
              </a:rPr>
              <a:t>OBJETIVOS: GENERAL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A38CFDD-B467-813B-9550-F938F43B666A}"/>
              </a:ext>
            </a:extLst>
          </p:cNvPr>
          <p:cNvSpPr txBox="1"/>
          <p:nvPr/>
        </p:nvSpPr>
        <p:spPr>
          <a:xfrm>
            <a:off x="2730500" y="3177897"/>
            <a:ext cx="6731000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 rtl="0" eaLnBrk="1" latinLnBrk="0" hangingPunct="1"/>
            <a:r>
              <a:rPr lang="es-MX" sz="2800" dirty="0">
                <a:latin typeface="Century Gothic" panose="020B0502020202020204" pitchFamily="34" charset="0"/>
              </a:rPr>
              <a:t>Desarrollar una aplicación móvil que facilite la gestión integral de tratamientos médicos.</a:t>
            </a:r>
            <a:endParaRPr lang="es-CO" sz="2400" dirty="0"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5515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425"/>
            <a:ext cx="12192000" cy="675811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819664" y="1015839"/>
            <a:ext cx="4552670" cy="13677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solidFill>
                  <a:srgbClr val="00482B"/>
                </a:solidFill>
              </a:rPr>
              <a:t>OBJETIVOS ESPECÍFICOS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95731" y="2895600"/>
            <a:ext cx="5400535" cy="31027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Conceptualizar la aplicación.</a:t>
            </a:r>
          </a:p>
          <a:p>
            <a:pPr marL="4572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latin typeface="Century Gothic" panose="020B0502020202020204" pitchFamily="34" charset="0"/>
              </a:rPr>
              <a:t>Investigar sobre las alternativas.</a:t>
            </a:r>
          </a:p>
          <a:p>
            <a:pPr marL="4572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Diseñar prototipos.</a:t>
            </a:r>
          </a:p>
          <a:p>
            <a:pPr marL="4572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Realizar pruebas de usabilidad.</a:t>
            </a:r>
          </a:p>
          <a:p>
            <a:pPr marL="4572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entury Gothic" panose="020B0502020202020204" pitchFamily="34" charset="0"/>
                <a:ea typeface="Arial" panose="020B0604020202020204" pitchFamily="34" charset="0"/>
              </a:rPr>
              <a:t>Desarrollar un sistema de gestión.</a:t>
            </a:r>
            <a:endParaRPr lang="es-MX" sz="2400" dirty="0">
              <a:latin typeface="Century Gothic" panose="020B0502020202020204" pitchFamily="34" charset="0"/>
            </a:endParaRPr>
          </a:p>
          <a:p>
            <a:pPr marL="238760" indent="-226060" algn="l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38760" algn="l"/>
              </a:tabLst>
            </a:pP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88"/>
            <a:ext cx="12192000" cy="6832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600200" y="2604284"/>
            <a:ext cx="38862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5" dirty="0"/>
              <a:t>ESTADO</a:t>
            </a:r>
            <a:r>
              <a:rPr sz="5400" spc="-200" dirty="0"/>
              <a:t> </a:t>
            </a:r>
            <a:r>
              <a:rPr sz="5400" spc="-10" dirty="0"/>
              <a:t>DEL</a:t>
            </a:r>
            <a:r>
              <a:rPr sz="5400" spc="-240" dirty="0"/>
              <a:t> </a:t>
            </a:r>
            <a:r>
              <a:rPr sz="5400" spc="-20" dirty="0"/>
              <a:t>ARTE</a:t>
            </a:r>
            <a:endParaRPr sz="5400" dirty="0"/>
          </a:p>
        </p:txBody>
      </p:sp>
      <p:sp>
        <p:nvSpPr>
          <p:cNvPr id="4" name="object 4"/>
          <p:cNvSpPr txBox="1"/>
          <p:nvPr/>
        </p:nvSpPr>
        <p:spPr>
          <a:xfrm>
            <a:off x="6934200" y="3352800"/>
            <a:ext cx="464820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spc="-2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Tecnologías</a:t>
            </a:r>
            <a:r>
              <a:rPr sz="2400" spc="-4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móviles</a:t>
            </a:r>
            <a:r>
              <a:rPr sz="2400" spc="-4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para</a:t>
            </a:r>
            <a:r>
              <a:rPr sz="2400" spc="-4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gestión</a:t>
            </a:r>
            <a:r>
              <a:rPr sz="2400" spc="-4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autónoma </a:t>
            </a:r>
            <a:r>
              <a:rPr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de</a:t>
            </a:r>
            <a:r>
              <a:rPr sz="2400" spc="-6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400" b="1" dirty="0">
                <a:solidFill>
                  <a:schemeClr val="tx1"/>
                </a:solidFill>
                <a:latin typeface="Century Gothic" panose="020B0502020202020204" pitchFamily="34" charset="0"/>
                <a:cs typeface="Arial MT"/>
              </a:rPr>
              <a:t>tratamientos</a:t>
            </a:r>
            <a:r>
              <a:rPr sz="2400" b="1" spc="-55" dirty="0">
                <a:solidFill>
                  <a:schemeClr val="tx1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400" b="1" spc="-10" dirty="0">
                <a:solidFill>
                  <a:schemeClr val="tx1"/>
                </a:solidFill>
                <a:latin typeface="Century Gothic" panose="020B0502020202020204" pitchFamily="34" charset="0"/>
                <a:cs typeface="Arial MT"/>
              </a:rPr>
              <a:t>crónicos</a:t>
            </a:r>
            <a:r>
              <a:rPr sz="2400" spc="-1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.</a:t>
            </a:r>
            <a:endParaRPr sz="2400" dirty="0">
              <a:latin typeface="Century Gothic" panose="020B0502020202020204" pitchFamily="34" charset="0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1400" y="5013066"/>
            <a:ext cx="4876800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8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Revisión</a:t>
            </a:r>
            <a:r>
              <a:rPr sz="2800" spc="-4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8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de</a:t>
            </a:r>
            <a:r>
              <a:rPr sz="2800" spc="-4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800" b="1" dirty="0">
                <a:solidFill>
                  <a:srgbClr val="00482B"/>
                </a:solidFill>
                <a:latin typeface="Century Gothic" panose="020B0502020202020204" pitchFamily="34" charset="0"/>
                <a:cs typeface="Arial MT"/>
              </a:rPr>
              <a:t>aplicaciones</a:t>
            </a:r>
            <a:r>
              <a:rPr sz="2800" b="1" spc="-40" dirty="0">
                <a:solidFill>
                  <a:srgbClr val="00482B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800" b="1" dirty="0">
                <a:solidFill>
                  <a:srgbClr val="00482B"/>
                </a:solidFill>
                <a:latin typeface="Century Gothic" panose="020B0502020202020204" pitchFamily="34" charset="0"/>
                <a:cs typeface="Arial MT"/>
              </a:rPr>
              <a:t>existentes</a:t>
            </a:r>
            <a:r>
              <a:rPr sz="2800" b="1" spc="-4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8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y</a:t>
            </a:r>
            <a:r>
              <a:rPr sz="2800" spc="-4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sus </a:t>
            </a:r>
            <a:r>
              <a:rPr sz="2800" spc="-1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limitaciones.</a:t>
            </a:r>
            <a:endParaRPr sz="2800" dirty="0">
              <a:latin typeface="Century Gothic" panose="020B0502020202020204" pitchFamily="34" charset="0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C7CF5-2537-18E4-9D61-346D1A11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1F41233-2FF0-1B25-F9F1-23E2CBA2B5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6476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95D308D6-A77C-9C22-9FEB-126005FC8D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9664" y="814850"/>
            <a:ext cx="455267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dirty="0">
                <a:solidFill>
                  <a:schemeClr val="bg1"/>
                </a:solidFill>
              </a:rPr>
              <a:t>MARCO</a:t>
            </a:r>
            <a:r>
              <a:rPr lang="es-CO" spc="-40" dirty="0">
                <a:solidFill>
                  <a:schemeClr val="bg1"/>
                </a:solidFill>
              </a:rPr>
              <a:t> </a:t>
            </a:r>
            <a:r>
              <a:rPr lang="es-CO" spc="-10" dirty="0">
                <a:solidFill>
                  <a:schemeClr val="bg1"/>
                </a:solidFill>
              </a:rPr>
              <a:t>LEGAL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DA7B6F9-E000-D523-758C-043FB3A8F4E0}"/>
              </a:ext>
            </a:extLst>
          </p:cNvPr>
          <p:cNvSpPr txBox="1"/>
          <p:nvPr/>
        </p:nvSpPr>
        <p:spPr>
          <a:xfrm>
            <a:off x="2575349" y="2433508"/>
            <a:ext cx="7041300" cy="3264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8500" indent="-6858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s-CO" sz="4800" i="1" spc="-10" dirty="0">
                <a:solidFill>
                  <a:schemeClr val="bg1"/>
                </a:solidFill>
                <a:latin typeface="Century Gothic" panose="020B0502020202020204" pitchFamily="34" charset="0"/>
                <a:cs typeface="Arial MT"/>
              </a:rPr>
              <a:t>Ley 1581 2012</a:t>
            </a:r>
          </a:p>
          <a:p>
            <a:pPr marL="698500" indent="-6858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s-CO" sz="4800" i="1" spc="-10" dirty="0">
                <a:solidFill>
                  <a:schemeClr val="bg1"/>
                </a:solidFill>
                <a:latin typeface="Century Gothic" panose="020B0502020202020204" pitchFamily="34" charset="0"/>
                <a:cs typeface="Arial MT"/>
              </a:rPr>
              <a:t>Ley 23 1981</a:t>
            </a:r>
          </a:p>
          <a:p>
            <a:pPr marL="698500" indent="-6858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s-CO" sz="4800" i="1" spc="-10" dirty="0">
                <a:solidFill>
                  <a:schemeClr val="bg1"/>
                </a:solidFill>
                <a:latin typeface="Century Gothic" panose="020B0502020202020204" pitchFamily="34" charset="0"/>
                <a:cs typeface="Arial MT"/>
              </a:rPr>
              <a:t>Ley 527 1999</a:t>
            </a:r>
          </a:p>
          <a:p>
            <a:pPr marL="698500" indent="-685800"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s-CO" sz="4800" i="1" spc="-10" dirty="0">
                <a:solidFill>
                  <a:schemeClr val="bg1"/>
                </a:solidFill>
                <a:latin typeface="Century Gothic" panose="020B0502020202020204" pitchFamily="34" charset="0"/>
                <a:cs typeface="Arial MT"/>
              </a:rPr>
              <a:t>Ley 1438 2011</a:t>
            </a:r>
          </a:p>
          <a:p>
            <a:pPr marL="12700">
              <a:spcBef>
                <a:spcPts val="95"/>
              </a:spcBef>
            </a:pPr>
            <a:endParaRPr sz="1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05806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5330-A125-7334-1774-CF5D396E9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A6BC4C9-D44E-214F-81E3-2080F425A7B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425"/>
            <a:ext cx="12192000" cy="6758118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20B03181-BA39-3D3A-FEA1-03788D3E6E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9664" y="1295400"/>
            <a:ext cx="4867135" cy="12322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90000"/>
              </a:lnSpc>
              <a:buClr>
                <a:schemeClr val="lt1"/>
              </a:buClr>
              <a:buSzPts val="4800"/>
              <a:buFont typeface="Century Gothic"/>
              <a:buNone/>
            </a:pPr>
            <a:r>
              <a:rPr lang="es-CO" dirty="0">
                <a:solidFill>
                  <a:srgbClr val="00482B"/>
                </a:solidFill>
              </a:rPr>
              <a:t>MARCO</a:t>
            </a:r>
            <a:r>
              <a:rPr lang="es-CO" spc="-105" dirty="0">
                <a:solidFill>
                  <a:srgbClr val="00482B"/>
                </a:solidFill>
              </a:rPr>
              <a:t> </a:t>
            </a:r>
            <a:r>
              <a:rPr lang="es-CO" spc="-10" dirty="0">
                <a:solidFill>
                  <a:srgbClr val="00482B"/>
                </a:solidFill>
              </a:rPr>
              <a:t>METODOLÓGICO</a:t>
            </a:r>
            <a:endParaRPr lang="es-CO" dirty="0">
              <a:solidFill>
                <a:srgbClr val="00482B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7A7F2D1-AE61-3708-087E-99AB43FDCE41}"/>
              </a:ext>
            </a:extLst>
          </p:cNvPr>
          <p:cNvSpPr txBox="1"/>
          <p:nvPr/>
        </p:nvSpPr>
        <p:spPr>
          <a:xfrm>
            <a:off x="1828800" y="3268906"/>
            <a:ext cx="4267200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 rtl="0" eaLnBrk="1" latinLnBrk="0" hangingPunct="1"/>
            <a:r>
              <a:rPr kumimoji="0" lang="es-CO" sz="28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Integración</a:t>
            </a:r>
            <a:r>
              <a:rPr kumimoji="0" lang="es-CO" sz="2800" b="0" i="0" u="none" strike="noStrike" kern="0" cap="none" spc="-5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de</a:t>
            </a:r>
            <a:r>
              <a:rPr kumimoji="0" lang="es-CO" sz="2800" b="0" i="0" u="none" strike="noStrike" kern="0" cap="none" spc="-5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bases</a:t>
            </a:r>
            <a:r>
              <a:rPr kumimoji="0" lang="es-CO" sz="2800" b="0" i="0" u="none" strike="noStrike" kern="0" cap="none" spc="-5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de</a:t>
            </a:r>
            <a:r>
              <a:rPr kumimoji="0" lang="es-CO" sz="2800" b="0" i="0" u="none" strike="noStrike" kern="0" cap="none" spc="-45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0" i="0" u="none" strike="noStrike" kern="0" cap="none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datos</a:t>
            </a:r>
            <a:r>
              <a:rPr kumimoji="0" lang="es-CO" sz="2800" b="0" i="0" u="none" strike="noStrike" kern="0" cap="none" spc="-5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(Firebase)</a:t>
            </a:r>
            <a:r>
              <a:rPr kumimoji="0" lang="es-CO" sz="2800" b="1" i="0" u="none" strike="noStrike" kern="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0" i="0" u="none" strike="noStrike" kern="0" cap="none" spc="-5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y entorno de desarrollo </a:t>
            </a:r>
            <a:r>
              <a:rPr kumimoji="0" lang="es-CO" sz="2800" b="0" i="0" u="none" strike="noStrike" kern="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Moderno</a:t>
            </a:r>
            <a:r>
              <a:rPr kumimoji="0" lang="es-CO" sz="28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 </a:t>
            </a:r>
            <a:r>
              <a:rPr kumimoji="0" lang="es-CO" sz="2800" b="1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(</a:t>
            </a:r>
            <a:r>
              <a:rPr kumimoji="0" lang="es-CO" sz="2800" b="1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Flutter</a:t>
            </a:r>
            <a:r>
              <a:rPr kumimoji="0" lang="es-CO" sz="2800" b="1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cs typeface="Arial MT"/>
              </a:rPr>
              <a:t>)</a:t>
            </a:r>
            <a:endParaRPr lang="es-CO" sz="4000" b="1" dirty="0">
              <a:solidFill>
                <a:schemeClr val="tx1"/>
              </a:solidFill>
              <a:effectLst/>
              <a:latin typeface="Century Gothic" panose="020B0502020202020204" pitchFamily="34" charset="0"/>
            </a:endParaRPr>
          </a:p>
        </p:txBody>
      </p:sp>
      <p:pic>
        <p:nvPicPr>
          <p:cNvPr id="4" name="Picture 2" descr="Firebase Brand Guidelines">
            <a:extLst>
              <a:ext uri="{FF2B5EF4-FFF2-40B4-BE49-F238E27FC236}">
                <a16:creationId xmlns:a16="http://schemas.microsoft.com/office/drawing/2014/main" id="{4EAA22A7-74EE-E25A-F6E6-77D087A85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168" y="2895600"/>
            <a:ext cx="1974974" cy="1974974"/>
          </a:xfrm>
          <a:prstGeom prst="roundRect">
            <a:avLst>
              <a:gd name="adj" fmla="val 5000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lutter · GitHub">
            <a:extLst>
              <a:ext uri="{FF2B5EF4-FFF2-40B4-BE49-F238E27FC236}">
                <a16:creationId xmlns:a16="http://schemas.microsoft.com/office/drawing/2014/main" id="{C88E4A05-D30E-F4D2-BD64-ACEBAAAB6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310" y="3365358"/>
            <a:ext cx="1035457" cy="103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448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167FE63-90F8-055B-1960-D88839539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85DF064-D7A7-DB0C-BC8B-F78A27E5DA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88"/>
            <a:ext cx="12192000" cy="6832611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0B2280C9-8028-1BCF-7D7F-C2825DDD13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6713" y="762000"/>
            <a:ext cx="5373914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5400" spc="-20" dirty="0"/>
              <a:t>METODOLOGÍA</a:t>
            </a:r>
            <a:r>
              <a:rPr lang="es-CO" sz="5400" spc="-105" dirty="0"/>
              <a:t> </a:t>
            </a:r>
            <a:r>
              <a:rPr lang="es-CO" sz="5400" spc="-10" dirty="0"/>
              <a:t>KANBAN</a:t>
            </a:r>
            <a:endParaRPr sz="54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409239F-0987-9B1D-3883-08CFB7B15851}"/>
              </a:ext>
            </a:extLst>
          </p:cNvPr>
          <p:cNvSpPr txBox="1"/>
          <p:nvPr/>
        </p:nvSpPr>
        <p:spPr>
          <a:xfrm>
            <a:off x="610342" y="3048000"/>
            <a:ext cx="487680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Salud</a:t>
            </a:r>
            <a:r>
              <a:rPr lang="es-CO" sz="2400" spc="-3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y</a:t>
            </a:r>
            <a:r>
              <a:rPr lang="es-CO" sz="2400" spc="-3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spc="-1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Bienestar.</a:t>
            </a:r>
            <a:r>
              <a:rPr lang="es-CO" sz="2400" spc="-2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Gestión</a:t>
            </a:r>
            <a:r>
              <a:rPr lang="es-CO" sz="2400" spc="-3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spc="-2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ágil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mediante</a:t>
            </a:r>
            <a:r>
              <a:rPr lang="es-CO" sz="2400" spc="-5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tablero</a:t>
            </a:r>
            <a:r>
              <a:rPr lang="es-CO" sz="2400" spc="-5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Kanban</a:t>
            </a:r>
            <a:r>
              <a:rPr lang="es-CO" sz="2400" spc="-5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para</a:t>
            </a:r>
            <a:r>
              <a:rPr lang="es-CO" sz="2400" spc="-4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control</a:t>
            </a:r>
            <a:r>
              <a:rPr lang="es-CO" sz="2400" spc="-5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spc="-2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de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tareas</a:t>
            </a:r>
            <a:r>
              <a:rPr lang="es-CO" sz="2400" spc="-35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y</a:t>
            </a:r>
            <a:r>
              <a:rPr lang="es-CO" sz="2400" spc="-3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 </a:t>
            </a:r>
            <a:r>
              <a:rPr lang="es-CO" sz="2400" spc="-10" dirty="0">
                <a:solidFill>
                  <a:srgbClr val="252525"/>
                </a:solidFill>
                <a:latin typeface="Century Gothic" panose="020B0502020202020204" pitchFamily="34" charset="0"/>
                <a:cs typeface="Arial MT"/>
              </a:rPr>
              <a:t>avances.</a:t>
            </a:r>
            <a:endParaRPr sz="2400" dirty="0">
              <a:latin typeface="Century Gothic" panose="020B0502020202020204" pitchFamily="34" charset="0"/>
              <a:cs typeface="Arial M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2ADA500-CB00-925D-2F35-268DF0EB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151088" cy="2949112"/>
          </a:xfrm>
          <a:prstGeom prst="roundRect">
            <a:avLst>
              <a:gd name="adj" fmla="val 413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4407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724C-F903-EA50-0C37-49BEEEAC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B93764B-1DDC-15F8-10F9-4D308DF5B3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6476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775D0556-B0E9-1EF3-2963-7C06485EE7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12216" y="1898773"/>
            <a:ext cx="7767568" cy="30604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MX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¡Transformemos la salud en Colombia!</a:t>
            </a:r>
            <a:endParaRPr sz="6600" spc="-1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1031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223</Words>
  <Application>Microsoft Office PowerPoint</Application>
  <PresentationFormat>Panorámica</PresentationFormat>
  <Paragraphs>39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MT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Issue </vt:lpstr>
      <vt:lpstr>JUSTIFICACIÓN</vt:lpstr>
      <vt:lpstr>OBJETIVOS: GENERAL</vt:lpstr>
      <vt:lpstr>OBJETIVOS ESPECÍFICOS</vt:lpstr>
      <vt:lpstr>ESTADO DEL ARTE</vt:lpstr>
      <vt:lpstr>MARCO LEGAL</vt:lpstr>
      <vt:lpstr>MARCO METODOLÓGICO</vt:lpstr>
      <vt:lpstr>METODOLOGÍA KANBAN</vt:lpstr>
      <vt:lpstr>¡Transformemos la salud en Colombia!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Eliecer Delgado Cortes</dc:creator>
  <dc:description/>
  <cp:lastModifiedBy>JORGE ELIECER DELGADO CORTES</cp:lastModifiedBy>
  <cp:revision>1</cp:revision>
  <dcterms:created xsi:type="dcterms:W3CDTF">2026-05-05T12:42:34Z</dcterms:created>
  <dcterms:modified xsi:type="dcterms:W3CDTF">2026-05-05T15:38:08Z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2026-04-24T00:00:00Z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2026-05-05T00:00:00Z</vt:filetime>
  </property>
  <property fmtid="{D5CDD505-2E9C-101B-9397-08002B2CF9AE}" pid="6" name="SourceModified">
    <vt:lpwstr>D:20260424173906+22'39'</vt:lpwstr>
  </property>
</Properties>
</file>